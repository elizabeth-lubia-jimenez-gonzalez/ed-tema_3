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j3979412@gmail.com" userId="025da5c1ceaf6706" providerId="LiveId" clId="{FC2EDB4C-9C45-4765-840D-BF2C1DB2DF09}"/>
    <pc:docChg chg="custSel modSld">
      <pc:chgData name="ej3979412@gmail.com" userId="025da5c1ceaf6706" providerId="LiveId" clId="{FC2EDB4C-9C45-4765-840D-BF2C1DB2DF09}" dt="2026-10-09T02:56:12.807" v="81" actId="113"/>
      <pc:docMkLst>
        <pc:docMk/>
      </pc:docMkLst>
      <pc:sldChg chg="addSp delSp modSp mod">
        <pc:chgData name="ej3979412@gmail.com" userId="025da5c1ceaf6706" providerId="LiveId" clId="{FC2EDB4C-9C45-4765-840D-BF2C1DB2DF09}" dt="2026-10-09T02:53:43.018" v="57" actId="113"/>
        <pc:sldMkLst>
          <pc:docMk/>
          <pc:sldMk cId="1207489792" sldId="257"/>
        </pc:sldMkLst>
        <pc:spChg chg="mod">
          <ac:chgData name="ej3979412@gmail.com" userId="025da5c1ceaf6706" providerId="LiveId" clId="{FC2EDB4C-9C45-4765-840D-BF2C1DB2DF09}" dt="2026-10-09T02:53:43.018" v="57" actId="113"/>
          <ac:spMkLst>
            <pc:docMk/>
            <pc:sldMk cId="1207489792" sldId="257"/>
            <ac:spMk id="3" creationId="{1B8512BB-108F-4537-8FA9-2721BBCBF593}"/>
          </ac:spMkLst>
        </pc:spChg>
        <pc:spChg chg="add del mod">
          <ac:chgData name="ej3979412@gmail.com" userId="025da5c1ceaf6706" providerId="LiveId" clId="{FC2EDB4C-9C45-4765-840D-BF2C1DB2DF09}" dt="2026-10-09T02:52:49.941" v="43" actId="478"/>
          <ac:spMkLst>
            <pc:docMk/>
            <pc:sldMk cId="1207489792" sldId="257"/>
            <ac:spMk id="4" creationId="{3784E790-1427-4646-814F-77F62930FAB3}"/>
          </ac:spMkLst>
        </pc:spChg>
        <pc:spChg chg="add del mod">
          <ac:chgData name="ej3979412@gmail.com" userId="025da5c1ceaf6706" providerId="LiveId" clId="{FC2EDB4C-9C45-4765-840D-BF2C1DB2DF09}" dt="2026-10-09T02:52:52.194" v="44" actId="478"/>
          <ac:spMkLst>
            <pc:docMk/>
            <pc:sldMk cId="1207489792" sldId="257"/>
            <ac:spMk id="5" creationId="{75B55F2D-E8A2-4DB6-BDEE-D31F339FF256}"/>
          </ac:spMkLst>
        </pc:spChg>
      </pc:sldChg>
      <pc:sldChg chg="modSp mod">
        <pc:chgData name="ej3979412@gmail.com" userId="025da5c1ceaf6706" providerId="LiveId" clId="{FC2EDB4C-9C45-4765-840D-BF2C1DB2DF09}" dt="2026-10-09T02:55:01.163" v="72" actId="113"/>
        <pc:sldMkLst>
          <pc:docMk/>
          <pc:sldMk cId="887669619" sldId="258"/>
        </pc:sldMkLst>
        <pc:spChg chg="mod">
          <ac:chgData name="ej3979412@gmail.com" userId="025da5c1ceaf6706" providerId="LiveId" clId="{FC2EDB4C-9C45-4765-840D-BF2C1DB2DF09}" dt="2026-10-09T02:55:01.163" v="72" actId="113"/>
          <ac:spMkLst>
            <pc:docMk/>
            <pc:sldMk cId="887669619" sldId="258"/>
            <ac:spMk id="3" creationId="{EB0F1266-4277-4A3F-9B75-69C26DF110EC}"/>
          </ac:spMkLst>
        </pc:spChg>
      </pc:sldChg>
      <pc:sldChg chg="modSp mod">
        <pc:chgData name="ej3979412@gmail.com" userId="025da5c1ceaf6706" providerId="LiveId" clId="{FC2EDB4C-9C45-4765-840D-BF2C1DB2DF09}" dt="2026-10-09T02:56:12.807" v="81" actId="113"/>
        <pc:sldMkLst>
          <pc:docMk/>
          <pc:sldMk cId="3355299207" sldId="269"/>
        </pc:sldMkLst>
        <pc:spChg chg="mod">
          <ac:chgData name="ej3979412@gmail.com" userId="025da5c1ceaf6706" providerId="LiveId" clId="{FC2EDB4C-9C45-4765-840D-BF2C1DB2DF09}" dt="2026-10-09T02:56:12.807" v="81" actId="113"/>
          <ac:spMkLst>
            <pc:docMk/>
            <pc:sldMk cId="3355299207" sldId="269"/>
            <ac:spMk id="3" creationId="{7EA6DB61-27F4-4820-8CFC-9E0F911735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827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647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699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094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641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295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089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161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505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0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0316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5499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8441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9073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442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995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9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4449DA6-50DB-498D-BB4B-E8074022DF24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3440950-E9A1-45BC-9C23-38AC9BFDD1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840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507406322" descr="Texto&#10;&#10;Descripción generada automáticamente con confianza baja">
            <a:extLst>
              <a:ext uri="{FF2B5EF4-FFF2-40B4-BE49-F238E27FC236}">
                <a16:creationId xmlns:a16="http://schemas.microsoft.com/office/drawing/2014/main" id="{568FEC97-C3F0-4309-96D0-C24A643B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73" y="346456"/>
            <a:ext cx="4525500" cy="94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2096293136" descr="Texto&#10;&#10;Descripción generada automáticamente">
            <a:extLst>
              <a:ext uri="{FF2B5EF4-FFF2-40B4-BE49-F238E27FC236}">
                <a16:creationId xmlns:a16="http://schemas.microsoft.com/office/drawing/2014/main" id="{E544F842-A912-4CE5-B186-EACBB9CD5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403" y="278679"/>
            <a:ext cx="2289281" cy="113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175343995" descr="Dibujo con letras&#10;&#10;Descripción generada automáticamente con confianza baja">
            <a:extLst>
              <a:ext uri="{FF2B5EF4-FFF2-40B4-BE49-F238E27FC236}">
                <a16:creationId xmlns:a16="http://schemas.microsoft.com/office/drawing/2014/main" id="{6EE05C21-5BA5-4CE8-9F69-CA2DA4411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3812" y="253833"/>
            <a:ext cx="1930357" cy="133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07F48CC0-8348-4D14-BE65-B00D63291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464" y="24034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0B875A6F-48F6-4E37-B79F-CAC6DCA6E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02" y="947781"/>
            <a:ext cx="5378395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Tecnológico Nacional de México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Instituto Tecnológico de Frontera Comalapa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Docente: </a:t>
            </a:r>
            <a:r>
              <a:rPr kumimoji="0" lang="es-ES" altLang="es-MX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Francisco Javier Mingo Velázquez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Alumna: </a:t>
            </a:r>
            <a:r>
              <a:rPr kumimoji="0" lang="es-ES" altLang="es-MX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Elizabeth Lubia Jiménez González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Materia: </a:t>
            </a:r>
            <a:r>
              <a:rPr kumimoji="0" lang="es-ES" altLang="es-MX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Est. De datos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Semestre: </a:t>
            </a:r>
            <a:r>
              <a:rPr kumimoji="0" lang="es-ES" altLang="es-MX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Modalidad: </a:t>
            </a:r>
            <a:r>
              <a:rPr kumimoji="0" lang="es-ES" altLang="es-MX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Escolarizado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Carrera: </a:t>
            </a:r>
            <a:r>
              <a:rPr kumimoji="0" lang="pt-PT" altLang="es-MX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Ingenieria en Sistemas Computacionales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Trabajo: </a:t>
            </a:r>
            <a:r>
              <a:rPr kumimoji="0" lang="es-ES" altLang="es-MX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Banco de ejercicios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Fecha de entrega: </a:t>
            </a:r>
            <a:r>
              <a:rPr kumimoji="0" lang="es-ES" altLang="es-MX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09/10/2026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Frontera Comalapa Chiapas</a:t>
            </a: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679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8B760-D0B3-4040-AA95-DC917CCC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8512BB-108F-4537-8FA9-2721BBCBF5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4127" y="2815376"/>
            <a:ext cx="10363826" cy="342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En este proyecto, presento un </a:t>
            </a:r>
            <a:r>
              <a:rPr lang="es-ES" sz="1800" u="none" strike="noStrike" cap="non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banco de ejercicios</a:t>
            </a: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diseñado y desarrollado de forma integral en el entorno </a:t>
            </a:r>
            <a:r>
              <a:rPr lang="es-ES" sz="1800" u="none" strike="noStrike" cap="non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intellij</a:t>
            </a:r>
            <a:r>
              <a:rPr lang="es-ES" sz="1800" u="none" strike="noStrike" cap="non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IDEA</a:t>
            </a: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. Para lograr una experiencia visual intuitiva y ordenada, utilicé </a:t>
            </a:r>
            <a:r>
              <a:rPr lang="es-ES" sz="1800" u="none" strike="noStrike" cap="non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junto con la herramienta </a:t>
            </a:r>
            <a:r>
              <a:rPr lang="es-ES" sz="1800" u="none" strike="noStrike" cap="non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  <a:r>
              <a:rPr lang="es-ES" sz="1800" u="none" strike="noStrike" cap="non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u="none" strike="noStrike" cap="non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builder</a:t>
            </a: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para el diseño de la interfaz gráfica. El funcionamiento del programa es muy sencillo: al iniciar, el usuario se encuentra con un </a:t>
            </a:r>
            <a:r>
              <a:rPr lang="es-ES" sz="1800" u="none" strike="noStrike" cap="non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menú principal</a:t>
            </a: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que contiene </a:t>
            </a:r>
            <a:r>
              <a:rPr lang="es-ES" sz="1800" u="none" strike="noStrike" cap="non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tres botones</a:t>
            </a: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. Cada uno de estos botones representa 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diferente: </a:t>
            </a:r>
            <a:r>
              <a:rPr kumimoji="0" lang="es-MX" altLang="es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pilas, colas y listas. 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continuación, explicaré detalladamente el funcionamiento de cada botón y cómo se aplican las operaciones de inserción, eliminación y consulta en cada uno de estos ejercicios</a:t>
            </a:r>
            <a:endParaRPr lang="es-MX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489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DDF83-17E3-4867-A6F1-76184EB7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Justificación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F1266-4277-4A3F-9B75-69C26DF110E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0" u="none" strike="noStrike" cap="none" dirty="0">
                <a:effectLst/>
                <a:latin typeface="Google Sans"/>
              </a:rPr>
              <a:t>El desarrollo de este banco de ejercicios surge de la necesidad de comprender de manera práctica y visual el funcionamiento de las estructuras de datos lineales </a:t>
            </a:r>
            <a:r>
              <a:rPr lang="es-ES" u="none" strike="noStrike" cap="none" dirty="0">
                <a:effectLst/>
                <a:latin typeface="Google Sans"/>
              </a:rPr>
              <a:t>(pilas, colas y listas), </a:t>
            </a:r>
            <a:r>
              <a:rPr lang="es-ES" b="0" u="none" strike="noStrike" cap="none" dirty="0">
                <a:effectLst/>
                <a:latin typeface="Google Sans"/>
              </a:rPr>
              <a:t>las cuales son fundamentales en las ciencias de la computación para la organización eficiente de la información. Muchas veces, la teoría de cómo se insertan o eliminan elementos en estas estructuras puede resultar abstracta. Por ello, la creación de este programa permite plasmar esos conceptos lógicos en un entorno real y funcional. La elección de </a:t>
            </a:r>
            <a:r>
              <a:rPr lang="es-ES" u="none" strike="noStrike" cap="none" dirty="0" err="1">
                <a:effectLst/>
                <a:latin typeface="Google Sans"/>
              </a:rPr>
              <a:t>intellij</a:t>
            </a:r>
            <a:r>
              <a:rPr lang="es-ES" u="none" strike="noStrike" cap="none" dirty="0">
                <a:effectLst/>
                <a:latin typeface="Google Sans"/>
              </a:rPr>
              <a:t> IDEA </a:t>
            </a:r>
            <a:r>
              <a:rPr lang="es-ES" b="0" u="none" strike="noStrike" cap="none" dirty="0">
                <a:effectLst/>
                <a:latin typeface="Google Sans"/>
              </a:rPr>
              <a:t>y </a:t>
            </a:r>
            <a:r>
              <a:rPr lang="es-ES" u="none" strike="noStrike" cap="none" dirty="0" err="1">
                <a:effectLst/>
                <a:latin typeface="Google Sans"/>
              </a:rPr>
              <a:t>javafx</a:t>
            </a:r>
            <a:r>
              <a:rPr lang="es-ES" b="0" u="none" strike="noStrike" cap="none" dirty="0">
                <a:effectLst/>
                <a:latin typeface="Google Sans"/>
              </a:rPr>
              <a:t> junto con </a:t>
            </a:r>
            <a:r>
              <a:rPr lang="es-ES" u="none" strike="noStrike" cap="none" dirty="0" err="1">
                <a:effectLst/>
                <a:latin typeface="Google Sans"/>
              </a:rPr>
              <a:t>scene</a:t>
            </a:r>
            <a:r>
              <a:rPr lang="es-ES" u="none" strike="noStrike" cap="none" dirty="0">
                <a:effectLst/>
                <a:latin typeface="Google Sans"/>
              </a:rPr>
              <a:t> </a:t>
            </a:r>
            <a:r>
              <a:rPr lang="es-ES" u="none" strike="noStrike" cap="none" dirty="0" err="1">
                <a:effectLst/>
                <a:latin typeface="Google Sans"/>
              </a:rPr>
              <a:t>builder</a:t>
            </a:r>
            <a:r>
              <a:rPr lang="es-ES" u="none" strike="noStrike" cap="none" dirty="0">
                <a:effectLst/>
                <a:latin typeface="Google Sans"/>
              </a:rPr>
              <a:t> </a:t>
            </a:r>
            <a:r>
              <a:rPr lang="es-ES" b="0" u="none" strike="noStrike" cap="none" dirty="0">
                <a:effectLst/>
                <a:latin typeface="Google Sans"/>
              </a:rPr>
              <a:t>se debe a que ofrecen una combinación robusta para construir aplicaciones de escritorio modernas.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8766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1FE6F-1FD6-4C04-B98C-D89D8ABB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Menú principal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B5EA41-1070-4E07-A64A-598690F6042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48060" y="2366963"/>
            <a:ext cx="6495879" cy="3424237"/>
          </a:xfr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C7C0D7D-CFDA-47F3-AE4F-08A12D81CD0E}"/>
              </a:ext>
            </a:extLst>
          </p:cNvPr>
          <p:cNvCxnSpPr/>
          <p:nvPr/>
        </p:nvCxnSpPr>
        <p:spPr>
          <a:xfrm flipV="1">
            <a:off x="6409765" y="1918447"/>
            <a:ext cx="1721223" cy="15105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6AF42086-14E4-45F8-99E2-43FA1562405F}"/>
              </a:ext>
            </a:extLst>
          </p:cNvPr>
          <p:cNvSpPr txBox="1"/>
          <p:nvPr/>
        </p:nvSpPr>
        <p:spPr>
          <a:xfrm>
            <a:off x="7997143" y="697591"/>
            <a:ext cx="32810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Es un componente visual estático de </a:t>
            </a:r>
            <a:r>
              <a:rPr lang="es-ES" dirty="0" err="1"/>
              <a:t>JavaFx</a:t>
            </a:r>
            <a:r>
              <a:rPr lang="es-ES" dirty="0"/>
              <a:t> (Label). Sirve para indicarle explícitamente al usuario que se encuentra en la raíz o </a:t>
            </a:r>
            <a:r>
              <a:rPr lang="es-ES" u="none" strike="noStrike" dirty="0">
                <a:effectLst/>
                <a:latin typeface="Google Sans"/>
              </a:rPr>
              <a:t>Menú Principal</a:t>
            </a:r>
            <a:r>
              <a:rPr lang="es-ES" dirty="0"/>
              <a:t> del sistema.</a:t>
            </a:r>
            <a:endParaRPr lang="es-MX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3FB2D7B-AFE2-430D-9F32-2DAEE144FF4F}"/>
              </a:ext>
            </a:extLst>
          </p:cNvPr>
          <p:cNvCxnSpPr/>
          <p:nvPr/>
        </p:nvCxnSpPr>
        <p:spPr>
          <a:xfrm flipH="1" flipV="1">
            <a:off x="3585882" y="2079812"/>
            <a:ext cx="2142565" cy="16943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">
            <a:extLst>
              <a:ext uri="{FF2B5EF4-FFF2-40B4-BE49-F238E27FC236}">
                <a16:creationId xmlns:a16="http://schemas.microsoft.com/office/drawing/2014/main" id="{CB831F61-3BA5-4577-BE65-3DEAE495717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74142" y="1010836"/>
            <a:ext cx="2660843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Al hacer clic, el archivo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MenuController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intercepta el evento en el método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abrirPila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() para cargar la vista pila-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view.fxml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. 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F5828090-C45D-47AA-9FF0-B450C262B55B}"/>
              </a:ext>
            </a:extLst>
          </p:cNvPr>
          <p:cNvCxnSpPr/>
          <p:nvPr/>
        </p:nvCxnSpPr>
        <p:spPr>
          <a:xfrm>
            <a:off x="6409765" y="4021494"/>
            <a:ext cx="32380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Rectangle 2">
            <a:extLst>
              <a:ext uri="{FF2B5EF4-FFF2-40B4-BE49-F238E27FC236}">
                <a16:creationId xmlns:a16="http://schemas.microsoft.com/office/drawing/2014/main" id="{7826733C-BBE4-49D2-9667-04E62686E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641" y="3368539"/>
            <a:ext cx="257135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Activa el método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abrirCola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()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que redirige al usuario hacia la interfaz de manipulación FIFO (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cola-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view.fxml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A429014-3E3C-4106-9085-75534E517FF5}"/>
              </a:ext>
            </a:extLst>
          </p:cNvPr>
          <p:cNvCxnSpPr/>
          <p:nvPr/>
        </p:nvCxnSpPr>
        <p:spPr>
          <a:xfrm flipH="1">
            <a:off x="2332653" y="4254759"/>
            <a:ext cx="33957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25139D4-F6B2-46CB-B2CC-F70A4EDD3F8F}"/>
              </a:ext>
            </a:extLst>
          </p:cNvPr>
          <p:cNvSpPr txBox="1"/>
          <p:nvPr/>
        </p:nvSpPr>
        <p:spPr>
          <a:xfrm rot="10800000">
            <a:off x="-5144162" y="8768010"/>
            <a:ext cx="508553" cy="10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F5973EA7-EEF4-450A-A921-74E38F45F4D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0" y="3700761"/>
            <a:ext cx="257561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Activa el método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abrirLista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()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abriendo el módulo secuencial bajo el archivo 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lista-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view.fxml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C4D03DB-83B7-4310-B47B-7DD1689FA2D0}"/>
              </a:ext>
            </a:extLst>
          </p:cNvPr>
          <p:cNvCxnSpPr/>
          <p:nvPr/>
        </p:nvCxnSpPr>
        <p:spPr>
          <a:xfrm flipH="1">
            <a:off x="2509935" y="4599992"/>
            <a:ext cx="2715208" cy="1191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66667339-4001-45C9-B8BB-66DE13AAE48B}"/>
              </a:ext>
            </a:extLst>
          </p:cNvPr>
          <p:cNvSpPr/>
          <p:nvPr/>
        </p:nvSpPr>
        <p:spPr>
          <a:xfrm>
            <a:off x="5150498" y="4490152"/>
            <a:ext cx="214604" cy="17515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F2B1094-D2FD-42AF-AC59-D37AA253CC2D}"/>
              </a:ext>
            </a:extLst>
          </p:cNvPr>
          <p:cNvSpPr txBox="1"/>
          <p:nvPr/>
        </p:nvSpPr>
        <p:spPr>
          <a:xfrm>
            <a:off x="571910" y="5430416"/>
            <a:ext cx="2332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Contenedor Principal (</a:t>
            </a:r>
            <a:r>
              <a:rPr lang="es-MX" dirty="0" err="1"/>
              <a:t>VBox</a:t>
            </a:r>
            <a:r>
              <a:rPr lang="es-MX" dirty="0"/>
              <a:t> / Vista FXML).</a:t>
            </a:r>
          </a:p>
        </p:txBody>
      </p:sp>
    </p:spTree>
    <p:extLst>
      <p:ext uri="{BB962C8B-B14F-4D97-AF65-F5344CB8AC3E}">
        <p14:creationId xmlns:p14="http://schemas.microsoft.com/office/powerpoint/2010/main" val="224144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781F6-2A75-41CE-B9ED-1A8D29B2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-86011"/>
            <a:ext cx="10364451" cy="1596177"/>
          </a:xfrm>
        </p:spPr>
        <p:txBody>
          <a:bodyPr/>
          <a:lstStyle/>
          <a:p>
            <a:r>
              <a:rPr lang="es-ES" dirty="0"/>
              <a:t>Ejemplo Estructura pila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CEE7D93-7F15-4939-B1E7-691341496EB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3433763"/>
            <a:ext cx="3585625" cy="3424237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C7333E-AF79-43FF-A6AA-D4D2277AD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1"/>
            <a:ext cx="5259051" cy="3429000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27027B6-E96A-404D-9B13-E50F882AD610}"/>
              </a:ext>
            </a:extLst>
          </p:cNvPr>
          <p:cNvCxnSpPr/>
          <p:nvPr/>
        </p:nvCxnSpPr>
        <p:spPr>
          <a:xfrm flipV="1">
            <a:off x="2061882" y="3012141"/>
            <a:ext cx="0" cy="14881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24E456A2-3B42-45D4-9008-93FBF870AED0}"/>
              </a:ext>
            </a:extLst>
          </p:cNvPr>
          <p:cNvSpPr txBox="1"/>
          <p:nvPr/>
        </p:nvSpPr>
        <p:spPr>
          <a:xfrm>
            <a:off x="1030941" y="2375647"/>
            <a:ext cx="26176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Al dar clic en el primer botón nos manda a la siguiente ventana </a:t>
            </a:r>
            <a:endParaRPr lang="es-MX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68CA428-E53B-4FA0-BBD2-072EFE2186EF}"/>
              </a:ext>
            </a:extLst>
          </p:cNvPr>
          <p:cNvCxnSpPr/>
          <p:nvPr/>
        </p:nvCxnSpPr>
        <p:spPr>
          <a:xfrm flipH="1" flipV="1">
            <a:off x="5378824" y="2752165"/>
            <a:ext cx="2653552" cy="16226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CE3DEFC-1921-4718-A060-91BBF3EC3656}"/>
              </a:ext>
            </a:extLst>
          </p:cNvPr>
          <p:cNvSpPr txBox="1"/>
          <p:nvPr/>
        </p:nvSpPr>
        <p:spPr>
          <a:xfrm>
            <a:off x="3478172" y="1027268"/>
            <a:ext cx="240280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/>
              <a:t>Entrada de Datos (</a:t>
            </a:r>
            <a:r>
              <a:rPr lang="es-MX" sz="1600" dirty="0" err="1"/>
              <a:t>txtEntrada</a:t>
            </a:r>
            <a:r>
              <a:rPr lang="es-MX" sz="1600" dirty="0"/>
              <a:t>). </a:t>
            </a:r>
            <a:r>
              <a:rPr lang="es-ES" sz="1600" dirty="0"/>
              <a:t>Es la caja de texto donde el usuario escribe. 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 propiedad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promptText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muestra la sugerencia en gris: 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"Escribe un dato numérico o texto aquí“</a:t>
            </a:r>
            <a:r>
              <a:rPr lang="es-MX" altLang="es-MX" sz="1600" dirty="0"/>
              <a:t>.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s-MX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01C37AD-CB22-4488-8973-FDD4D5C7CBA0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5728190" y="3756211"/>
            <a:ext cx="2304186" cy="8875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96D40B8-8AC5-4B5F-A178-F89E87806032}"/>
              </a:ext>
            </a:extLst>
          </p:cNvPr>
          <p:cNvSpPr txBox="1"/>
          <p:nvPr/>
        </p:nvSpPr>
        <p:spPr>
          <a:xfrm>
            <a:off x="3720096" y="3156046"/>
            <a:ext cx="2008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Activa el método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ejecutarPush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()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para meter el texto de la caja a la pila</a:t>
            </a:r>
            <a:endParaRPr lang="es-MX" dirty="0">
              <a:latin typeface="+mj-lt"/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BE322E6-676C-4C8E-869F-757EE111CBC0}"/>
              </a:ext>
            </a:extLst>
          </p:cNvPr>
          <p:cNvCxnSpPr/>
          <p:nvPr/>
        </p:nvCxnSpPr>
        <p:spPr>
          <a:xfrm flipH="1" flipV="1">
            <a:off x="7100047" y="2752165"/>
            <a:ext cx="1272988" cy="18198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F07AFD7-33DA-4351-B2A6-D429DE1C8712}"/>
              </a:ext>
            </a:extLst>
          </p:cNvPr>
          <p:cNvSpPr txBox="1"/>
          <p:nvPr/>
        </p:nvSpPr>
        <p:spPr>
          <a:xfrm>
            <a:off x="5880974" y="1846729"/>
            <a:ext cx="20079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Activa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ejecutarPop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()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sacar y eliminar el elemento que esté hasta arriba.</a:t>
            </a:r>
            <a:endParaRPr lang="es-MX" sz="160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D9C3284-0DE7-43D1-9A56-61B6D38D49DD}"/>
              </a:ext>
            </a:extLst>
          </p:cNvPr>
          <p:cNvCxnSpPr/>
          <p:nvPr/>
        </p:nvCxnSpPr>
        <p:spPr>
          <a:xfrm flipH="1" flipV="1">
            <a:off x="8570259" y="1846729"/>
            <a:ext cx="62753" cy="27252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1CEF228-5267-478B-9DBD-246592A543A2}"/>
              </a:ext>
            </a:extLst>
          </p:cNvPr>
          <p:cNvSpPr txBox="1"/>
          <p:nvPr/>
        </p:nvSpPr>
        <p:spPr>
          <a:xfrm>
            <a:off x="7803150" y="608078"/>
            <a:ext cx="16943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Activa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ejecutarPeek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()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mirar el elemento superior sin alterarlo.</a:t>
            </a:r>
            <a:endParaRPr lang="es-MX" sz="1600" dirty="0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F3F0F7B-115E-4BD0-9A0B-3059C62EE860}"/>
              </a:ext>
            </a:extLst>
          </p:cNvPr>
          <p:cNvCxnSpPr/>
          <p:nvPr/>
        </p:nvCxnSpPr>
        <p:spPr>
          <a:xfrm flipV="1">
            <a:off x="8875059" y="3074894"/>
            <a:ext cx="295835" cy="14971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BAC4686-0247-4558-91D6-7E883A2139E9}"/>
              </a:ext>
            </a:extLst>
          </p:cNvPr>
          <p:cNvSpPr txBox="1"/>
          <p:nvPr/>
        </p:nvSpPr>
        <p:spPr>
          <a:xfrm>
            <a:off x="8650315" y="2286000"/>
            <a:ext cx="16943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Llama a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ejecutarMostrar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()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actualizar la lista visual. 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4CD355B-25CD-4F8A-98D8-3892835FAD96}"/>
              </a:ext>
            </a:extLst>
          </p:cNvPr>
          <p:cNvCxnSpPr/>
          <p:nvPr/>
        </p:nvCxnSpPr>
        <p:spPr>
          <a:xfrm flipV="1">
            <a:off x="9305365" y="2034988"/>
            <a:ext cx="1757082" cy="2537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F6394B2-50E2-4A12-AABA-52A2E4DF696F}"/>
              </a:ext>
            </a:extLst>
          </p:cNvPr>
          <p:cNvSpPr txBox="1"/>
          <p:nvPr/>
        </p:nvSpPr>
        <p:spPr>
          <a:xfrm>
            <a:off x="9924555" y="763547"/>
            <a:ext cx="20260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1600" b="0" u="none" strike="noStrike" dirty="0">
                <a:effectLst/>
              </a:rPr>
              <a:t>Vacía por completo la estructura o reinicia los campos de texto.</a:t>
            </a:r>
          </a:p>
          <a:p>
            <a:endParaRPr lang="es-MX" dirty="0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150F2CBB-5805-4942-BF15-5BDD8C58DB24}"/>
              </a:ext>
            </a:extLst>
          </p:cNvPr>
          <p:cNvCxnSpPr/>
          <p:nvPr/>
        </p:nvCxnSpPr>
        <p:spPr>
          <a:xfrm flipH="1">
            <a:off x="5710518" y="5143501"/>
            <a:ext cx="2393576" cy="6118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04A0D4A-C67A-4C33-82ED-C75D6999973F}"/>
              </a:ext>
            </a:extLst>
          </p:cNvPr>
          <p:cNvSpPr txBox="1"/>
          <p:nvPr/>
        </p:nvSpPr>
        <p:spPr>
          <a:xfrm>
            <a:off x="3632881" y="4831945"/>
            <a:ext cx="21825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Está enlazado a 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@FXML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private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TextArea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txtResultado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;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Aquí es donde el programa escribe los mensajes automáticos</a:t>
            </a:r>
            <a:endParaRPr kumimoji="0" lang="es-MX" altLang="es-MX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BA540EC6-35F0-4DC9-87D6-2D91CA4D32CE}"/>
              </a:ext>
            </a:extLst>
          </p:cNvPr>
          <p:cNvCxnSpPr/>
          <p:nvPr/>
        </p:nvCxnSpPr>
        <p:spPr>
          <a:xfrm flipH="1" flipV="1">
            <a:off x="2501153" y="1931517"/>
            <a:ext cx="6069106" cy="36176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3037A91-FA7E-4C9E-B665-ACFC6A8306BF}"/>
              </a:ext>
            </a:extLst>
          </p:cNvPr>
          <p:cNvSpPr txBox="1"/>
          <p:nvPr/>
        </p:nvSpPr>
        <p:spPr>
          <a:xfrm>
            <a:off x="262448" y="1186720"/>
            <a:ext cx="24028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 hacer clic, invoca el método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ejecutarRegresar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()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el cual busca el archivo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menu-view.fxml</a:t>
            </a:r>
            <a:r>
              <a:rPr lang="es-MX" altLang="es-MX" sz="1600" dirty="0">
                <a:cs typeface="Courier New" panose="02070309020205020404" pitchFamily="49" charset="0"/>
              </a:rPr>
              <a:t>.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9091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48C8C-7E86-4248-8A29-F601B99E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PILA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D170BE0-5ED1-4986-B1FD-3C8E66C715E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125705" y="3446930"/>
            <a:ext cx="3940590" cy="3424237"/>
          </a:xfr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2D344EC-C6D5-440F-9539-76C977FA3517}"/>
              </a:ext>
            </a:extLst>
          </p:cNvPr>
          <p:cNvCxnSpPr/>
          <p:nvPr/>
        </p:nvCxnSpPr>
        <p:spPr>
          <a:xfrm flipH="1" flipV="1">
            <a:off x="3594847" y="3567953"/>
            <a:ext cx="1237129" cy="12460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52E1566-1DB8-42C5-8863-9906D292476A}"/>
              </a:ext>
            </a:extLst>
          </p:cNvPr>
          <p:cNvSpPr txBox="1"/>
          <p:nvPr/>
        </p:nvSpPr>
        <p:spPr>
          <a:xfrm>
            <a:off x="1308847" y="2796647"/>
            <a:ext cx="2745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Con el </a:t>
            </a:r>
            <a:r>
              <a:rPr lang="es-ES" dirty="0" err="1"/>
              <a:t>push</a:t>
            </a:r>
            <a:r>
              <a:rPr lang="es-ES" dirty="0"/>
              <a:t> se fueron insertando los datos que se muestran.</a:t>
            </a:r>
            <a:endParaRPr lang="es-MX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4DB2092-C214-408B-8688-2D544BD0A8D8}"/>
              </a:ext>
            </a:extLst>
          </p:cNvPr>
          <p:cNvCxnSpPr/>
          <p:nvPr/>
        </p:nvCxnSpPr>
        <p:spPr>
          <a:xfrm>
            <a:off x="3702424" y="3719977"/>
            <a:ext cx="995082" cy="15781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3B2EA4-53C2-4890-916F-D9B90B097EE8}"/>
              </a:ext>
            </a:extLst>
          </p:cNvPr>
          <p:cNvCxnSpPr/>
          <p:nvPr/>
        </p:nvCxnSpPr>
        <p:spPr>
          <a:xfrm flipV="1">
            <a:off x="7126941" y="2617694"/>
            <a:ext cx="1066800" cy="1891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9351F4A-13CC-488E-913E-5AAECD45213D}"/>
              </a:ext>
            </a:extLst>
          </p:cNvPr>
          <p:cNvSpPr txBox="1"/>
          <p:nvPr/>
        </p:nvSpPr>
        <p:spPr>
          <a:xfrm>
            <a:off x="7763435" y="1945641"/>
            <a:ext cx="2608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Aquí es donde el usuario va ingresando sus datos.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06017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1F20729-A5E6-41F8-9FEB-7BCACFBC1D6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12003" y="3353081"/>
            <a:ext cx="3752335" cy="3424237"/>
          </a:xfr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318B889-58C6-4DC0-9B51-2A9D2BF44579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445590" y="2205283"/>
            <a:ext cx="2874129" cy="3004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B767CE5-5A0D-4830-AFD9-1C1E3F0B32A7}"/>
              </a:ext>
            </a:extLst>
          </p:cNvPr>
          <p:cNvSpPr txBox="1"/>
          <p:nvPr/>
        </p:nvSpPr>
        <p:spPr>
          <a:xfrm>
            <a:off x="2679177" y="1281953"/>
            <a:ext cx="3281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 el botón pop eliminamos un elemento por ejemplo aquí se elimino el ultimo que entro. </a:t>
            </a:r>
            <a:endParaRPr lang="es-MX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A8D6598-98B9-47E4-BBCF-7DE151AC42E9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1394073" y="1648564"/>
            <a:ext cx="103034" cy="32192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030F037-D6D7-4ACE-94AC-237F452A5BAE}"/>
              </a:ext>
            </a:extLst>
          </p:cNvPr>
          <p:cNvSpPr txBox="1"/>
          <p:nvPr/>
        </p:nvSpPr>
        <p:spPr>
          <a:xfrm>
            <a:off x="212003" y="448235"/>
            <a:ext cx="2364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Nos muestra un mensaje en donde nos especifica que numero fue eliminado.</a:t>
            </a:r>
            <a:endParaRPr lang="es-MX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43C345F-525B-4F7E-A0DB-D1987A858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133" y="3258200"/>
            <a:ext cx="3807174" cy="3584338"/>
          </a:xfrm>
          <a:prstGeom prst="rect">
            <a:avLst/>
          </a:prstGeom>
        </p:spPr>
      </p:pic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3128FCC-5679-44F2-82C5-6C400D035F69}"/>
              </a:ext>
            </a:extLst>
          </p:cNvPr>
          <p:cNvCxnSpPr/>
          <p:nvPr/>
        </p:nvCxnSpPr>
        <p:spPr>
          <a:xfrm flipV="1">
            <a:off x="9386047" y="2716306"/>
            <a:ext cx="0" cy="19363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4C6A7F4-3F59-46E2-9ED7-2018419279D8}"/>
              </a:ext>
            </a:extLst>
          </p:cNvPr>
          <p:cNvSpPr txBox="1"/>
          <p:nvPr/>
        </p:nvSpPr>
        <p:spPr>
          <a:xfrm>
            <a:off x="8095129" y="1909482"/>
            <a:ext cx="2874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Al presionar el botón numero 3 nos da a conocer que numero esta al ultimo o al “tope”.</a:t>
            </a:r>
            <a:endParaRPr lang="es-MX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9D8F34B-E77D-4D55-99BF-14D56C4C36A5}"/>
              </a:ext>
            </a:extLst>
          </p:cNvPr>
          <p:cNvCxnSpPr/>
          <p:nvPr/>
        </p:nvCxnSpPr>
        <p:spPr>
          <a:xfrm flipH="1">
            <a:off x="7225553" y="4966447"/>
            <a:ext cx="111162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BB467BB-8091-483B-9D1D-BFAF2E7D2416}"/>
              </a:ext>
            </a:extLst>
          </p:cNvPr>
          <p:cNvSpPr txBox="1"/>
          <p:nvPr/>
        </p:nvSpPr>
        <p:spPr>
          <a:xfrm>
            <a:off x="5172635" y="4509247"/>
            <a:ext cx="20529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En el cuadro de resultado nos muestra un mensaje de que numero esta al tope.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851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15F151E-74C3-4AC2-9AA3-099FBE64528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2221" y="3433763"/>
            <a:ext cx="3951042" cy="3424237"/>
          </a:xfr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6261AAC-073F-4D00-91CD-3DD02E2C60A0}"/>
              </a:ext>
            </a:extLst>
          </p:cNvPr>
          <p:cNvCxnSpPr/>
          <p:nvPr/>
        </p:nvCxnSpPr>
        <p:spPr>
          <a:xfrm flipV="1">
            <a:off x="2626659" y="2904565"/>
            <a:ext cx="0" cy="20618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13D039F5-967A-4B1B-B977-C813F3B74F6C}"/>
              </a:ext>
            </a:extLst>
          </p:cNvPr>
          <p:cNvSpPr txBox="1"/>
          <p:nvPr/>
        </p:nvSpPr>
        <p:spPr>
          <a:xfrm>
            <a:off x="914402" y="1542210"/>
            <a:ext cx="34245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Si presionamos el botón de mostrar, nos vuelve a mostrar la pila de datos ya que anteriormente solo nos mostraba el numero de tope.</a:t>
            </a:r>
            <a:endParaRPr lang="es-MX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76FE6316-0961-416F-B505-6B1FF9835611}"/>
              </a:ext>
            </a:extLst>
          </p:cNvPr>
          <p:cNvCxnSpPr>
            <a:cxnSpLocks/>
          </p:cNvCxnSpPr>
          <p:nvPr/>
        </p:nvCxnSpPr>
        <p:spPr>
          <a:xfrm flipV="1">
            <a:off x="2097742" y="1281953"/>
            <a:ext cx="3254187" cy="41506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EEBEC0C-757A-4571-BAF9-7EF073CEE8D5}"/>
              </a:ext>
            </a:extLst>
          </p:cNvPr>
          <p:cNvSpPr txBox="1"/>
          <p:nvPr/>
        </p:nvSpPr>
        <p:spPr>
          <a:xfrm>
            <a:off x="3778622" y="411768"/>
            <a:ext cx="3469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En este cuadro de resultado podemos observar que si muestra otra vez la pila de datos.</a:t>
            </a:r>
            <a:endParaRPr lang="es-MX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53BE1C0-B099-40F2-B9E9-02B49F587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419" y="3521542"/>
            <a:ext cx="4394360" cy="3336458"/>
          </a:xfrm>
          <a:prstGeom prst="rect">
            <a:avLst/>
          </a:prstGeom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524D478-A3CE-4E99-A90C-352BDF4E2E03}"/>
              </a:ext>
            </a:extLst>
          </p:cNvPr>
          <p:cNvCxnSpPr/>
          <p:nvPr/>
        </p:nvCxnSpPr>
        <p:spPr>
          <a:xfrm flipV="1">
            <a:off x="10650071" y="2904565"/>
            <a:ext cx="0" cy="22413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5E0FA3E-E741-4F5A-B494-0842945F87A9}"/>
              </a:ext>
            </a:extLst>
          </p:cNvPr>
          <p:cNvSpPr txBox="1"/>
          <p:nvPr/>
        </p:nvSpPr>
        <p:spPr>
          <a:xfrm>
            <a:off x="9144000" y="2235918"/>
            <a:ext cx="2850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  le damos clic en el botón limpiar limpia el cuadro de resultado.</a:t>
            </a:r>
            <a:endParaRPr lang="es-MX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8A2D5EE-E79C-4A78-9BD1-7C2D00D86C37}"/>
              </a:ext>
            </a:extLst>
          </p:cNvPr>
          <p:cNvCxnSpPr>
            <a:cxnSpLocks/>
          </p:cNvCxnSpPr>
          <p:nvPr/>
        </p:nvCxnSpPr>
        <p:spPr>
          <a:xfrm flipH="1" flipV="1">
            <a:off x="7162800" y="3693459"/>
            <a:ext cx="1577789" cy="18467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AFBD4BC-92AC-4BDA-B373-DD07D1AF2B71}"/>
              </a:ext>
            </a:extLst>
          </p:cNvPr>
          <p:cNvSpPr txBox="1"/>
          <p:nvPr/>
        </p:nvSpPr>
        <p:spPr>
          <a:xfrm>
            <a:off x="4934473" y="2654156"/>
            <a:ext cx="2281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Como podemos observar ya no esta la pila de datos si no que ahora nos muestra un mensaje de pila vacía.</a:t>
            </a:r>
            <a:endParaRPr lang="es-MX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D310842F-F342-4869-AF59-77C387BB10D6}"/>
              </a:ext>
            </a:extLst>
          </p:cNvPr>
          <p:cNvCxnSpPr/>
          <p:nvPr/>
        </p:nvCxnSpPr>
        <p:spPr>
          <a:xfrm flipH="1" flipV="1">
            <a:off x="7019365" y="6185647"/>
            <a:ext cx="2519082" cy="2958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956A7F7-B770-42FE-ADA4-E66148BCEC85}"/>
              </a:ext>
            </a:extLst>
          </p:cNvPr>
          <p:cNvSpPr txBox="1"/>
          <p:nvPr/>
        </p:nvSpPr>
        <p:spPr>
          <a:xfrm>
            <a:off x="4589929" y="5432612"/>
            <a:ext cx="2429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Y TAMBIEN TIENE UN BOTON PARA REGRESAR A LA VENTANA ANTERIOR (AL MENU).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3173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9CFC1-D3EF-4B7C-B240-0F5B6C6A7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EJECUCIÒN DE COLA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E269FF4-2CE0-4B92-99AB-DE7E5B201EF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3705" y="3429000"/>
            <a:ext cx="3566708" cy="3424237"/>
          </a:xfr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3034464-693A-42C5-8C9D-9A4B4CA550D5}"/>
              </a:ext>
            </a:extLst>
          </p:cNvPr>
          <p:cNvCxnSpPr/>
          <p:nvPr/>
        </p:nvCxnSpPr>
        <p:spPr>
          <a:xfrm flipV="1">
            <a:off x="913775" y="2868706"/>
            <a:ext cx="0" cy="18646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FFF3B8D-3401-4714-B9DD-8E19A33C3AE5}"/>
              </a:ext>
            </a:extLst>
          </p:cNvPr>
          <p:cNvSpPr txBox="1"/>
          <p:nvPr/>
        </p:nvSpPr>
        <p:spPr>
          <a:xfrm>
            <a:off x="117164" y="1945376"/>
            <a:ext cx="2993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Este botón sirve para ir agregando los datos en el cuadro grande.</a:t>
            </a:r>
            <a:endParaRPr lang="es-MX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BEC0318-0EC5-4515-88DF-D339599DA433}"/>
              </a:ext>
            </a:extLst>
          </p:cNvPr>
          <p:cNvCxnSpPr/>
          <p:nvPr/>
        </p:nvCxnSpPr>
        <p:spPr>
          <a:xfrm flipV="1">
            <a:off x="2277035" y="3200400"/>
            <a:ext cx="1147483" cy="20170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32D37F2-F810-4D0B-AF6B-71B2BCCF9FE3}"/>
              </a:ext>
            </a:extLst>
          </p:cNvPr>
          <p:cNvSpPr txBox="1"/>
          <p:nvPr/>
        </p:nvSpPr>
        <p:spPr>
          <a:xfrm>
            <a:off x="2972113" y="2640106"/>
            <a:ext cx="2384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Se dan a conocer los datos ingresados.</a:t>
            </a:r>
            <a:endParaRPr lang="es-MX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C8F3C2A-4F20-4FCF-932A-DA2276A88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134" y="3420015"/>
            <a:ext cx="3826337" cy="3442187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E1212FF-CC79-415F-AF55-A322F617B25C}"/>
              </a:ext>
            </a:extLst>
          </p:cNvPr>
          <p:cNvCxnSpPr/>
          <p:nvPr/>
        </p:nvCxnSpPr>
        <p:spPr>
          <a:xfrm flipV="1">
            <a:off x="8767484" y="2963271"/>
            <a:ext cx="0" cy="1770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D93E990-CFC3-4548-A392-6269B8249CE1}"/>
              </a:ext>
            </a:extLst>
          </p:cNvPr>
          <p:cNvSpPr txBox="1"/>
          <p:nvPr/>
        </p:nvSpPr>
        <p:spPr>
          <a:xfrm>
            <a:off x="7620000" y="2043953"/>
            <a:ext cx="32183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Lo que hace este botón es desencolar ciertos datos en este caso sale el primer dato en entrar.</a:t>
            </a:r>
            <a:endParaRPr lang="es-MX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4338437-B3F3-40A3-A1D6-DF2F9425665C}"/>
              </a:ext>
            </a:extLst>
          </p:cNvPr>
          <p:cNvCxnSpPr/>
          <p:nvPr/>
        </p:nvCxnSpPr>
        <p:spPr>
          <a:xfrm flipH="1">
            <a:off x="7055224" y="5307106"/>
            <a:ext cx="16136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2B402FE-0806-4D90-A019-8872343B44DE}"/>
              </a:ext>
            </a:extLst>
          </p:cNvPr>
          <p:cNvSpPr txBox="1"/>
          <p:nvPr/>
        </p:nvSpPr>
        <p:spPr>
          <a:xfrm>
            <a:off x="4320988" y="4805082"/>
            <a:ext cx="2653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Como podemos observar nos hace falta el </a:t>
            </a:r>
            <a:r>
              <a:rPr lang="es-ES" dirty="0" err="1"/>
              <a:t>nuemero</a:t>
            </a:r>
            <a:r>
              <a:rPr lang="es-ES" dirty="0"/>
              <a:t> 1 quiere decir que si cumplió con el objetivo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35589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CF820DB-870F-4319-A43F-F9034920CF2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02297" y="3281363"/>
            <a:ext cx="4128769" cy="3424237"/>
          </a:xfr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5169907-FF3D-4C98-BF4B-245D1A3A2FA5}"/>
              </a:ext>
            </a:extLst>
          </p:cNvPr>
          <p:cNvCxnSpPr/>
          <p:nvPr/>
        </p:nvCxnSpPr>
        <p:spPr>
          <a:xfrm flipV="1">
            <a:off x="2205318" y="2967318"/>
            <a:ext cx="0" cy="1676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61E7B3D6-AB57-4CB1-A158-A64B7E46C0C9}"/>
              </a:ext>
            </a:extLst>
          </p:cNvPr>
          <p:cNvSpPr txBox="1"/>
          <p:nvPr/>
        </p:nvSpPr>
        <p:spPr>
          <a:xfrm>
            <a:off x="1013012" y="2043953"/>
            <a:ext cx="2940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Este botón muestra el numero que esta enfrente.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CA3521F-2293-4F6F-BB08-6356C6BA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546" y="85144"/>
            <a:ext cx="3826337" cy="3442187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81E4F73-7950-47CF-9DD1-A7FA708FD67B}"/>
              </a:ext>
            </a:extLst>
          </p:cNvPr>
          <p:cNvCxnSpPr/>
          <p:nvPr/>
        </p:nvCxnSpPr>
        <p:spPr>
          <a:xfrm flipH="1">
            <a:off x="4108340" y="2043953"/>
            <a:ext cx="1171872" cy="646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BAD15E-DCD6-4F8D-B776-B441D9FA25E6}"/>
              </a:ext>
            </a:extLst>
          </p:cNvPr>
          <p:cNvSpPr txBox="1"/>
          <p:nvPr/>
        </p:nvSpPr>
        <p:spPr>
          <a:xfrm>
            <a:off x="2483223" y="2690284"/>
            <a:ext cx="2042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numero que esta enfrente es el 2.</a:t>
            </a:r>
            <a:endParaRPr lang="es-MX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EA1E59D-83F3-475A-8864-2DDC91A9D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353" y="3613425"/>
            <a:ext cx="3728224" cy="3092176"/>
          </a:xfrm>
          <a:prstGeom prst="rect">
            <a:avLst/>
          </a:prstGeom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859E2E6-102D-4C26-B15D-6CFDD47A1ED3}"/>
              </a:ext>
            </a:extLst>
          </p:cNvPr>
          <p:cNvCxnSpPr/>
          <p:nvPr/>
        </p:nvCxnSpPr>
        <p:spPr>
          <a:xfrm flipV="1">
            <a:off x="10596282" y="3074894"/>
            <a:ext cx="0" cy="17570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A07BE2-11D3-46C1-8DC8-DC28EB5E73F2}"/>
              </a:ext>
            </a:extLst>
          </p:cNvPr>
          <p:cNvSpPr txBox="1"/>
          <p:nvPr/>
        </p:nvSpPr>
        <p:spPr>
          <a:xfrm>
            <a:off x="9233994" y="1201269"/>
            <a:ext cx="26714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botón mostrar sirve para mostrar otra vez los datos por ejemplo cuando damos clic en botón 3 ya no se ven todos los datos. Para esto sirve para volver a mostrarse.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96763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53A2C-0C16-4FF7-8D24-BCE07917E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lista </a:t>
            </a:r>
            <a:endParaRPr lang="es-MX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05552978-13B3-4E06-BE09-414C449D3A9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3711" y="3290328"/>
            <a:ext cx="4117001" cy="3424237"/>
          </a:xfr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9046D578-AFE6-4FA4-ABA1-438E4A52DA7F}"/>
              </a:ext>
            </a:extLst>
          </p:cNvPr>
          <p:cNvCxnSpPr/>
          <p:nvPr/>
        </p:nvCxnSpPr>
        <p:spPr>
          <a:xfrm flipV="1">
            <a:off x="1111624" y="2823882"/>
            <a:ext cx="0" cy="1900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FD03742-2F00-4F31-8574-91D4BB8CD126}"/>
              </a:ext>
            </a:extLst>
          </p:cNvPr>
          <p:cNvSpPr txBox="1"/>
          <p:nvPr/>
        </p:nvSpPr>
        <p:spPr>
          <a:xfrm>
            <a:off x="277906" y="1882588"/>
            <a:ext cx="2868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Este botón sirve para ir ingresando los datos </a:t>
            </a:r>
            <a:endParaRPr lang="es-MX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EF7A6DF-B03A-4D98-A809-0E7A9F8C695E}"/>
              </a:ext>
            </a:extLst>
          </p:cNvPr>
          <p:cNvCxnSpPr/>
          <p:nvPr/>
        </p:nvCxnSpPr>
        <p:spPr>
          <a:xfrm flipV="1">
            <a:off x="2232212" y="2976103"/>
            <a:ext cx="1272988" cy="2509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09F0436-1994-40A7-B695-ED04FF9DE2BA}"/>
              </a:ext>
            </a:extLst>
          </p:cNvPr>
          <p:cNvSpPr txBox="1"/>
          <p:nvPr/>
        </p:nvSpPr>
        <p:spPr>
          <a:xfrm>
            <a:off x="2761129" y="2061572"/>
            <a:ext cx="2250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Aquí es donde se ingresaron los datos.</a:t>
            </a:r>
            <a:endParaRPr lang="es-MX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B873B4D-1CA4-483C-8846-0CFC4B4D0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334" y="2912586"/>
            <a:ext cx="4215955" cy="3900589"/>
          </a:xfrm>
          <a:prstGeom prst="rect">
            <a:avLst/>
          </a:prstGeom>
        </p:spPr>
      </p:pic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AB70684-BE39-463E-AE51-26FE2658872F}"/>
              </a:ext>
            </a:extLst>
          </p:cNvPr>
          <p:cNvCxnSpPr/>
          <p:nvPr/>
        </p:nvCxnSpPr>
        <p:spPr>
          <a:xfrm flipV="1">
            <a:off x="9852212" y="2384737"/>
            <a:ext cx="0" cy="2061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9227CEE-11E7-4BFD-A9DE-DE51940A63D5}"/>
              </a:ext>
            </a:extLst>
          </p:cNvPr>
          <p:cNvSpPr txBox="1"/>
          <p:nvPr/>
        </p:nvSpPr>
        <p:spPr>
          <a:xfrm>
            <a:off x="8704729" y="1027589"/>
            <a:ext cx="24652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Al presionar el botón de eliminar índice tenemos que ingresar el numero que queremos en el otro label donde se pide.</a:t>
            </a:r>
            <a:endParaRPr lang="es-MX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6E75492-3CAF-4304-A686-0DB18A7A8EF2}"/>
              </a:ext>
            </a:extLst>
          </p:cNvPr>
          <p:cNvCxnSpPr/>
          <p:nvPr/>
        </p:nvCxnSpPr>
        <p:spPr>
          <a:xfrm flipH="1">
            <a:off x="7575176" y="5136776"/>
            <a:ext cx="7440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45EC099-548A-4C74-96A4-7E1B913AE475}"/>
              </a:ext>
            </a:extLst>
          </p:cNvPr>
          <p:cNvSpPr txBox="1"/>
          <p:nvPr/>
        </p:nvSpPr>
        <p:spPr>
          <a:xfrm>
            <a:off x="5067260" y="4724400"/>
            <a:ext cx="2563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Si no lo hacemos correctamente nos arroja un mensaje.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4665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B9CF62E-CFAA-4596-ABF7-FCB3AFC8D7C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4430" y="3290327"/>
            <a:ext cx="4408646" cy="3424237"/>
          </a:xfr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89AEB53-784A-4251-9A61-D50A3D188312}"/>
              </a:ext>
            </a:extLst>
          </p:cNvPr>
          <p:cNvCxnSpPr/>
          <p:nvPr/>
        </p:nvCxnSpPr>
        <p:spPr>
          <a:xfrm flipV="1">
            <a:off x="2976282" y="2967318"/>
            <a:ext cx="0" cy="1640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274709B0-DAF8-4E02-9AEE-C3FD1230A4A2}"/>
              </a:ext>
            </a:extLst>
          </p:cNvPr>
          <p:cNvSpPr txBox="1"/>
          <p:nvPr/>
        </p:nvSpPr>
        <p:spPr>
          <a:xfrm>
            <a:off x="1613647" y="2097741"/>
            <a:ext cx="293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Al dar click en este botón es para buscar un dato.</a:t>
            </a:r>
            <a:endParaRPr lang="es-MX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BFC26CF-B691-45B0-831A-171B7377DA12}"/>
              </a:ext>
            </a:extLst>
          </p:cNvPr>
          <p:cNvCxnSpPr/>
          <p:nvPr/>
        </p:nvCxnSpPr>
        <p:spPr>
          <a:xfrm>
            <a:off x="1873624" y="5280212"/>
            <a:ext cx="28776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1F815B8-39F0-4D89-B8B4-1B0CB1893737}"/>
              </a:ext>
            </a:extLst>
          </p:cNvPr>
          <p:cNvSpPr txBox="1"/>
          <p:nvPr/>
        </p:nvSpPr>
        <p:spPr>
          <a:xfrm>
            <a:off x="4823012" y="4697506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 este es el resultado que nos da.</a:t>
            </a:r>
            <a:endParaRPr lang="es-MX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7143276-0CAF-4F87-9082-B0C5AA545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8" y="3429000"/>
            <a:ext cx="3600792" cy="3424237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52349180-F705-47AC-B4EC-8149C42A8595}"/>
              </a:ext>
            </a:extLst>
          </p:cNvPr>
          <p:cNvCxnSpPr/>
          <p:nvPr/>
        </p:nvCxnSpPr>
        <p:spPr>
          <a:xfrm flipH="1" flipV="1">
            <a:off x="8973671" y="2967318"/>
            <a:ext cx="206188" cy="23128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2B1A184-0867-4098-B36C-8B6B8764F9F0}"/>
              </a:ext>
            </a:extLst>
          </p:cNvPr>
          <p:cNvSpPr txBox="1"/>
          <p:nvPr/>
        </p:nvSpPr>
        <p:spPr>
          <a:xfrm>
            <a:off x="7583146" y="2097741"/>
            <a:ext cx="2699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botón mostrar todo sirve ara mostrar todo los datos de nuevo.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7101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90DFB23-0C2D-4FB1-8E3D-EA3DC4E3DA6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99351" y="3353081"/>
            <a:ext cx="4049061" cy="3424237"/>
          </a:xfr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A4E7563-4610-43CD-B579-AEF1ECE20C72}"/>
              </a:ext>
            </a:extLst>
          </p:cNvPr>
          <p:cNvCxnSpPr/>
          <p:nvPr/>
        </p:nvCxnSpPr>
        <p:spPr>
          <a:xfrm flipV="1">
            <a:off x="3048000" y="2805953"/>
            <a:ext cx="663388" cy="2375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8249D3-5FF9-4DCB-8F80-4782E24502AC}"/>
              </a:ext>
            </a:extLst>
          </p:cNvPr>
          <p:cNvSpPr txBox="1"/>
          <p:nvPr/>
        </p:nvSpPr>
        <p:spPr>
          <a:xfrm>
            <a:off x="2823881" y="1703294"/>
            <a:ext cx="31466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 para modificar un muero le damos un clic y escribimos el numero que queremos modificar en el segundo recuadro.</a:t>
            </a:r>
            <a:endParaRPr lang="es-MX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209874D-A501-4F78-9BEE-CD76D67A28B2}"/>
              </a:ext>
            </a:extLst>
          </p:cNvPr>
          <p:cNvCxnSpPr/>
          <p:nvPr/>
        </p:nvCxnSpPr>
        <p:spPr>
          <a:xfrm flipV="1">
            <a:off x="3818965" y="5334000"/>
            <a:ext cx="2429435" cy="286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6651899-9D97-417B-947E-B71C19F6E771}"/>
              </a:ext>
            </a:extLst>
          </p:cNvPr>
          <p:cNvSpPr txBox="1"/>
          <p:nvPr/>
        </p:nvSpPr>
        <p:spPr>
          <a:xfrm>
            <a:off x="6248400" y="4831104"/>
            <a:ext cx="2904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Ya que si no lo hacemos no manda un mensaje.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8234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490D9-2A89-45D9-8725-EA53E5E1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A6DB61-27F4-4820-8CFC-9E0F911735F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En conclusión, el desarrollo de este banco de ejercicios me permitió consolidar con éxito los conceptos teóricos de </a:t>
            </a:r>
            <a:r>
              <a:rPr lang="es-ES" sz="1800" u="none" strike="noStrike" cap="non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pilas, colas y listas</a:t>
            </a: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, transformándolos en una aplicación funcional. La integración de </a:t>
            </a:r>
            <a:r>
              <a:rPr lang="es-ES" sz="1800" u="none" strike="noStrike" cap="non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800" u="none" strike="noStrike" cap="non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  <a:r>
              <a:rPr lang="es-ES" sz="1800" u="none" strike="noStrike" cap="non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u="none" strike="noStrike" cap="non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builder</a:t>
            </a: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dentro de </a:t>
            </a:r>
            <a:r>
              <a:rPr lang="es-ES" sz="1800" u="none" strike="noStrike" cap="non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intellij</a:t>
            </a:r>
            <a:r>
              <a:rPr lang="es-ES" sz="1800" u="none" strike="noStrike" cap="non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IDEA</a:t>
            </a:r>
            <a:r>
              <a:rPr lang="es-E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demostró ser una solución eficiente para crear una interfaz gráfica clara, logrando que estructuras de datos abstractas se vuelvan fáciles de entender y manipular de forma visual. Este proyecto no solo refuerza mis bases en programación de estructuras de datos, sino también en el diseño de software interactivo y orientado al usuario.</a:t>
            </a:r>
            <a:endParaRPr lang="es-MX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299207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102</TotalTime>
  <Words>1042</Words>
  <Application>Microsoft Office PowerPoint</Application>
  <PresentationFormat>Panorámica</PresentationFormat>
  <Paragraphs>74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Google Sans</vt:lpstr>
      <vt:lpstr>Tw Cen MT</vt:lpstr>
      <vt:lpstr>Gota</vt:lpstr>
      <vt:lpstr>Presentación de PowerPoint</vt:lpstr>
      <vt:lpstr>Introducción</vt:lpstr>
      <vt:lpstr>Justificación</vt:lpstr>
      <vt:lpstr>Menú principal</vt:lpstr>
      <vt:lpstr>Ejemplo Estructura pila</vt:lpstr>
      <vt:lpstr>Ejecución DE PILA</vt:lpstr>
      <vt:lpstr>Presentación de PowerPoint</vt:lpstr>
      <vt:lpstr>Presentación de PowerPoint</vt:lpstr>
      <vt:lpstr>EJECUCIÒN DE COLA</vt:lpstr>
      <vt:lpstr>Presentación de PowerPoint</vt:lpstr>
      <vt:lpstr>Ejecución de lista </vt:lpstr>
      <vt:lpstr>Presentación de PowerPoint</vt:lpstr>
      <vt:lpstr>Presentación de PowerPoint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ej3979412@gmail.com</dc:creator>
  <cp:lastModifiedBy>ej3979412@gmail.com</cp:lastModifiedBy>
  <cp:revision>11</cp:revision>
  <dcterms:created xsi:type="dcterms:W3CDTF">2026-10-09T01:13:21Z</dcterms:created>
  <dcterms:modified xsi:type="dcterms:W3CDTF">2026-10-09T02:56:19Z</dcterms:modified>
</cp:coreProperties>
</file>