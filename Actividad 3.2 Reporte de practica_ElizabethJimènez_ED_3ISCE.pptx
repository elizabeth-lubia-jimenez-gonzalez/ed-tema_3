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67" r:id="rId14"/>
    <p:sldId id="271" r:id="rId15"/>
    <p:sldId id="272" r:id="rId16"/>
    <p:sldId id="268" r:id="rId17"/>
    <p:sldId id="26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85" d="100"/>
          <a:sy n="85" d="100"/>
        </p:scale>
        <p:origin x="581"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j3979412@gmail.com" userId="025da5c1ceaf6706" providerId="LiveId" clId="{679929AB-5AA0-4D22-897E-368160914AE8}"/>
    <pc:docChg chg="modSld">
      <pc:chgData name="ej3979412@gmail.com" userId="025da5c1ceaf6706" providerId="LiveId" clId="{679929AB-5AA0-4D22-897E-368160914AE8}" dt="2026-10-09T03:16:25.093" v="2" actId="20577"/>
      <pc:docMkLst>
        <pc:docMk/>
      </pc:docMkLst>
      <pc:sldChg chg="modSp mod">
        <pc:chgData name="ej3979412@gmail.com" userId="025da5c1ceaf6706" providerId="LiveId" clId="{679929AB-5AA0-4D22-897E-368160914AE8}" dt="2026-10-09T03:16:25.093" v="2" actId="20577"/>
        <pc:sldMkLst>
          <pc:docMk/>
          <pc:sldMk cId="1839627818" sldId="269"/>
        </pc:sldMkLst>
        <pc:spChg chg="mod">
          <ac:chgData name="ej3979412@gmail.com" userId="025da5c1ceaf6706" providerId="LiveId" clId="{679929AB-5AA0-4D22-897E-368160914AE8}" dt="2026-10-09T03:16:25.093" v="2" actId="20577"/>
          <ac:spMkLst>
            <pc:docMk/>
            <pc:sldMk cId="1839627818" sldId="269"/>
            <ac:spMk id="3" creationId="{C11B2C70-2AF3-4691-953F-7C7C4E9B0EAD}"/>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28DA7616-BC6C-40DB-A3CE-B976C57560C2}" type="datetimeFigureOut">
              <a:rPr lang="es-MX" smtClean="0"/>
              <a:t>08/10/2026</a:t>
            </a:fld>
            <a:endParaRPr lang="es-MX"/>
          </a:p>
        </p:txBody>
      </p:sp>
      <p:sp>
        <p:nvSpPr>
          <p:cNvPr id="5" name="Footer Placeholder 4"/>
          <p:cNvSpPr>
            <a:spLocks noGrp="1"/>
          </p:cNvSpPr>
          <p:nvPr>
            <p:ph type="ftr" sz="quarter" idx="11"/>
          </p:nvPr>
        </p:nvSpPr>
        <p:spPr>
          <a:xfrm>
            <a:off x="1876424" y="5410201"/>
            <a:ext cx="5124886" cy="365125"/>
          </a:xfrm>
        </p:spPr>
        <p:txBody>
          <a:bodyPr/>
          <a:lstStyle/>
          <a:p>
            <a:endParaRPr lang="es-MX"/>
          </a:p>
        </p:txBody>
      </p:sp>
      <p:sp>
        <p:nvSpPr>
          <p:cNvPr id="6" name="Slide Number Placeholder 5"/>
          <p:cNvSpPr>
            <a:spLocks noGrp="1"/>
          </p:cNvSpPr>
          <p:nvPr>
            <p:ph type="sldNum" sz="quarter" idx="12"/>
          </p:nvPr>
        </p:nvSpPr>
        <p:spPr>
          <a:xfrm>
            <a:off x="9896911" y="5410199"/>
            <a:ext cx="771089" cy="365125"/>
          </a:xfrm>
        </p:spPr>
        <p:txBody>
          <a:bodyPr/>
          <a:lstStyle/>
          <a:p>
            <a:fld id="{3FA9D211-D265-42C1-846B-948CA34830FE}" type="slidenum">
              <a:rPr lang="es-MX" smtClean="0"/>
              <a:t>‹Nº›</a:t>
            </a:fld>
            <a:endParaRPr lang="es-MX"/>
          </a:p>
        </p:txBody>
      </p:sp>
    </p:spTree>
    <p:extLst>
      <p:ext uri="{BB962C8B-B14F-4D97-AF65-F5344CB8AC3E}">
        <p14:creationId xmlns:p14="http://schemas.microsoft.com/office/powerpoint/2010/main" val="765102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8DA7616-BC6C-40DB-A3CE-B976C57560C2}" type="datetimeFigureOut">
              <a:rPr lang="es-MX" smtClean="0"/>
              <a:t>08/10/2026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FA9D211-D265-42C1-846B-948CA34830FE}" type="slidenum">
              <a:rPr lang="es-MX" smtClean="0"/>
              <a:t>‹Nº›</a:t>
            </a:fld>
            <a:endParaRPr lang="es-MX"/>
          </a:p>
        </p:txBody>
      </p:sp>
    </p:spTree>
    <p:extLst>
      <p:ext uri="{BB962C8B-B14F-4D97-AF65-F5344CB8AC3E}">
        <p14:creationId xmlns:p14="http://schemas.microsoft.com/office/powerpoint/2010/main" val="282273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8DA7616-BC6C-40DB-A3CE-B976C57560C2}" type="datetimeFigureOut">
              <a:rPr lang="es-MX" smtClean="0"/>
              <a:t>08/10/2026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FA9D211-D265-42C1-846B-948CA34830FE}" type="slidenum">
              <a:rPr lang="es-MX" smtClean="0"/>
              <a:t>‹Nº›</a:t>
            </a:fld>
            <a:endParaRPr lang="es-MX"/>
          </a:p>
        </p:txBody>
      </p:sp>
    </p:spTree>
    <p:extLst>
      <p:ext uri="{BB962C8B-B14F-4D97-AF65-F5344CB8AC3E}">
        <p14:creationId xmlns:p14="http://schemas.microsoft.com/office/powerpoint/2010/main" val="3891102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28DA7616-BC6C-40DB-A3CE-B976C57560C2}" type="datetimeFigureOut">
              <a:rPr lang="es-MX" smtClean="0"/>
              <a:t>08/10/2026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FA9D211-D265-42C1-846B-948CA34830FE}" type="slidenum">
              <a:rPr lang="es-MX" smtClean="0"/>
              <a:t>‹Nº›</a:t>
            </a:fld>
            <a:endParaRPr lang="es-MX"/>
          </a:p>
        </p:txBody>
      </p:sp>
    </p:spTree>
    <p:extLst>
      <p:ext uri="{BB962C8B-B14F-4D97-AF65-F5344CB8AC3E}">
        <p14:creationId xmlns:p14="http://schemas.microsoft.com/office/powerpoint/2010/main" val="2698645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41410" y="3073397"/>
            <a:ext cx="4878391"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3073397"/>
            <a:ext cx="4875210"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28DA7616-BC6C-40DB-A3CE-B976C57560C2}" type="datetimeFigureOut">
              <a:rPr lang="es-MX" smtClean="0"/>
              <a:t>08/10/2026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3FA9D211-D265-42C1-846B-948CA34830FE}" type="slidenum">
              <a:rPr lang="es-MX" smtClean="0"/>
              <a:t>‹Nº›</a:t>
            </a:fld>
            <a:endParaRPr lang="es-MX"/>
          </a:p>
        </p:txBody>
      </p:sp>
    </p:spTree>
    <p:extLst>
      <p:ext uri="{BB962C8B-B14F-4D97-AF65-F5344CB8AC3E}">
        <p14:creationId xmlns:p14="http://schemas.microsoft.com/office/powerpoint/2010/main" val="4084931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8DA7616-BC6C-40DB-A3CE-B976C57560C2}" type="datetimeFigureOut">
              <a:rPr lang="es-MX" smtClean="0"/>
              <a:t>08/10/2026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FA9D211-D265-42C1-846B-948CA34830FE}" type="slidenum">
              <a:rPr lang="es-MX" smtClean="0"/>
              <a:t>‹Nº›</a:t>
            </a:fld>
            <a:endParaRPr lang="es-MX"/>
          </a:p>
        </p:txBody>
      </p:sp>
    </p:spTree>
    <p:extLst>
      <p:ext uri="{BB962C8B-B14F-4D97-AF65-F5344CB8AC3E}">
        <p14:creationId xmlns:p14="http://schemas.microsoft.com/office/powerpoint/2010/main" val="2501961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DA7616-BC6C-40DB-A3CE-B976C57560C2}" type="datetimeFigureOut">
              <a:rPr lang="es-MX" smtClean="0"/>
              <a:t>08/10/2026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3FA9D211-D265-42C1-846B-948CA34830FE}" type="slidenum">
              <a:rPr lang="es-MX" smtClean="0"/>
              <a:t>‹Nº›</a:t>
            </a:fld>
            <a:endParaRPr lang="es-MX"/>
          </a:p>
        </p:txBody>
      </p:sp>
    </p:spTree>
    <p:extLst>
      <p:ext uri="{BB962C8B-B14F-4D97-AF65-F5344CB8AC3E}">
        <p14:creationId xmlns:p14="http://schemas.microsoft.com/office/powerpoint/2010/main" val="830215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8DA7616-BC6C-40DB-A3CE-B976C57560C2}" type="datetimeFigureOut">
              <a:rPr lang="es-MX" smtClean="0"/>
              <a:t>08/10/2026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FA9D211-D265-42C1-846B-948CA34830FE}" type="slidenum">
              <a:rPr lang="es-MX" smtClean="0"/>
              <a:t>‹Nº›</a:t>
            </a:fld>
            <a:endParaRPr lang="es-MX"/>
          </a:p>
        </p:txBody>
      </p:sp>
    </p:spTree>
    <p:extLst>
      <p:ext uri="{BB962C8B-B14F-4D97-AF65-F5344CB8AC3E}">
        <p14:creationId xmlns:p14="http://schemas.microsoft.com/office/powerpoint/2010/main" val="630285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8DA7616-BC6C-40DB-A3CE-B976C57560C2}" type="datetimeFigureOut">
              <a:rPr lang="es-MX" smtClean="0"/>
              <a:t>08/10/2026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FA9D211-D265-42C1-846B-948CA34830FE}" type="slidenum">
              <a:rPr lang="es-MX" smtClean="0"/>
              <a:t>‹Nº›</a:t>
            </a:fld>
            <a:endParaRPr lang="es-MX"/>
          </a:p>
        </p:txBody>
      </p:sp>
    </p:spTree>
    <p:extLst>
      <p:ext uri="{BB962C8B-B14F-4D97-AF65-F5344CB8AC3E}">
        <p14:creationId xmlns:p14="http://schemas.microsoft.com/office/powerpoint/2010/main" val="1730667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s-ES"/>
              <a:t>Haga clic en el icono para agregar una imagen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8DA7616-BC6C-40DB-A3CE-B976C57560C2}" type="datetimeFigureOut">
              <a:rPr lang="es-MX" smtClean="0"/>
              <a:t>08/10/2026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FA9D211-D265-42C1-846B-948CA34830FE}" type="slidenum">
              <a:rPr lang="es-MX" smtClean="0"/>
              <a:t>‹Nº›</a:t>
            </a:fld>
            <a:endParaRPr lang="es-MX"/>
          </a:p>
        </p:txBody>
      </p:sp>
    </p:spTree>
    <p:extLst>
      <p:ext uri="{BB962C8B-B14F-4D97-AF65-F5344CB8AC3E}">
        <p14:creationId xmlns:p14="http://schemas.microsoft.com/office/powerpoint/2010/main" val="1367093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8DA7616-BC6C-40DB-A3CE-B976C57560C2}" type="datetimeFigureOut">
              <a:rPr lang="es-MX" smtClean="0"/>
              <a:t>08/10/2026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FA9D211-D265-42C1-846B-948CA34830FE}" type="slidenum">
              <a:rPr lang="es-MX" smtClean="0"/>
              <a:t>‹Nº›</a:t>
            </a:fld>
            <a:endParaRPr lang="es-MX"/>
          </a:p>
        </p:txBody>
      </p:sp>
    </p:spTree>
    <p:extLst>
      <p:ext uri="{BB962C8B-B14F-4D97-AF65-F5344CB8AC3E}">
        <p14:creationId xmlns:p14="http://schemas.microsoft.com/office/powerpoint/2010/main" val="38233511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8DA7616-BC6C-40DB-A3CE-B976C57560C2}" type="datetimeFigureOut">
              <a:rPr lang="es-MX" smtClean="0"/>
              <a:t>08/10/2026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FA9D211-D265-42C1-846B-948CA34830FE}" type="slidenum">
              <a:rPr lang="es-MX" smtClean="0"/>
              <a:t>‹Nº›</a:t>
            </a:fld>
            <a:endParaRPr lang="es-MX"/>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38625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8DA7616-BC6C-40DB-A3CE-B976C57560C2}" type="datetimeFigureOut">
              <a:rPr lang="es-MX" smtClean="0"/>
              <a:t>08/10/2026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FA9D211-D265-42C1-846B-948CA34830FE}" type="slidenum">
              <a:rPr lang="es-MX" smtClean="0"/>
              <a:t>‹Nº›</a:t>
            </a:fld>
            <a:endParaRPr lang="es-MX"/>
          </a:p>
        </p:txBody>
      </p:sp>
    </p:spTree>
    <p:extLst>
      <p:ext uri="{BB962C8B-B14F-4D97-AF65-F5344CB8AC3E}">
        <p14:creationId xmlns:p14="http://schemas.microsoft.com/office/powerpoint/2010/main" val="5063495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28DA7616-BC6C-40DB-A3CE-B976C57560C2}" type="datetimeFigureOut">
              <a:rPr lang="es-MX" smtClean="0"/>
              <a:t>08/10/2026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FA9D211-D265-42C1-846B-948CA34830FE}" type="slidenum">
              <a:rPr lang="es-MX" smtClean="0"/>
              <a:t>‹Nº›</a:t>
            </a:fld>
            <a:endParaRPr lang="es-MX"/>
          </a:p>
        </p:txBody>
      </p:sp>
    </p:spTree>
    <p:extLst>
      <p:ext uri="{BB962C8B-B14F-4D97-AF65-F5344CB8AC3E}">
        <p14:creationId xmlns:p14="http://schemas.microsoft.com/office/powerpoint/2010/main" val="24593185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28DA7616-BC6C-40DB-A3CE-B976C57560C2}" type="datetimeFigureOut">
              <a:rPr lang="es-MX" smtClean="0"/>
              <a:t>08/10/2026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FA9D211-D265-42C1-846B-948CA34830FE}" type="slidenum">
              <a:rPr lang="es-MX" smtClean="0"/>
              <a:t>‹Nº›</a:t>
            </a:fld>
            <a:endParaRPr lang="es-MX"/>
          </a:p>
        </p:txBody>
      </p:sp>
    </p:spTree>
    <p:extLst>
      <p:ext uri="{BB962C8B-B14F-4D97-AF65-F5344CB8AC3E}">
        <p14:creationId xmlns:p14="http://schemas.microsoft.com/office/powerpoint/2010/main" val="620386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8DA7616-BC6C-40DB-A3CE-B976C57560C2}" type="datetimeFigureOut">
              <a:rPr lang="es-MX" smtClean="0"/>
              <a:t>08/10/2026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FA9D211-D265-42C1-846B-948CA34830FE}" type="slidenum">
              <a:rPr lang="es-MX" smtClean="0"/>
              <a:t>‹Nº›</a:t>
            </a:fld>
            <a:endParaRPr lang="es-MX"/>
          </a:p>
        </p:txBody>
      </p:sp>
    </p:spTree>
    <p:extLst>
      <p:ext uri="{BB962C8B-B14F-4D97-AF65-F5344CB8AC3E}">
        <p14:creationId xmlns:p14="http://schemas.microsoft.com/office/powerpoint/2010/main" val="667271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8DA7616-BC6C-40DB-A3CE-B976C57560C2}" type="datetimeFigureOut">
              <a:rPr lang="es-MX" smtClean="0"/>
              <a:t>08/10/2026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FA9D211-D265-42C1-846B-948CA34830FE}" type="slidenum">
              <a:rPr lang="es-MX" smtClean="0"/>
              <a:t>‹Nº›</a:t>
            </a:fld>
            <a:endParaRPr lang="es-MX"/>
          </a:p>
        </p:txBody>
      </p:sp>
    </p:spTree>
    <p:extLst>
      <p:ext uri="{BB962C8B-B14F-4D97-AF65-F5344CB8AC3E}">
        <p14:creationId xmlns:p14="http://schemas.microsoft.com/office/powerpoint/2010/main" val="2246389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8DA7616-BC6C-40DB-A3CE-B976C57560C2}" type="datetimeFigureOut">
              <a:rPr lang="es-MX" smtClean="0"/>
              <a:t>08/10/2026</a:t>
            </a:fld>
            <a:endParaRPr lang="es-MX"/>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FA9D211-D265-42C1-846B-948CA34830FE}" type="slidenum">
              <a:rPr lang="es-MX" smtClean="0"/>
              <a:t>‹Nº›</a:t>
            </a:fld>
            <a:endParaRPr lang="es-MX"/>
          </a:p>
        </p:txBody>
      </p:sp>
    </p:spTree>
    <p:extLst>
      <p:ext uri="{BB962C8B-B14F-4D97-AF65-F5344CB8AC3E}">
        <p14:creationId xmlns:p14="http://schemas.microsoft.com/office/powerpoint/2010/main" val="355084978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507406322" descr="Texto&#10;&#10;Descripción generada automáticamente con confianza baja">
            <a:extLst>
              <a:ext uri="{FF2B5EF4-FFF2-40B4-BE49-F238E27FC236}">
                <a16:creationId xmlns:a16="http://schemas.microsoft.com/office/drawing/2014/main" id="{97437E46-12A0-4021-ADCA-578CC4A502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827" y="421104"/>
            <a:ext cx="4525500" cy="941388"/>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2096293136" descr="Texto&#10;&#10;Descripción generada automáticamente">
            <a:extLst>
              <a:ext uri="{FF2B5EF4-FFF2-40B4-BE49-F238E27FC236}">
                <a16:creationId xmlns:a16="http://schemas.microsoft.com/office/drawing/2014/main" id="{B00AC1E6-7F5B-403C-BBE3-5A285B2D46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2403" y="353325"/>
            <a:ext cx="2289281" cy="1136203"/>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175343995" descr="Dibujo con letras&#10;&#10;Descripción generada automáticamente con confianza baja">
            <a:extLst>
              <a:ext uri="{FF2B5EF4-FFF2-40B4-BE49-F238E27FC236}">
                <a16:creationId xmlns:a16="http://schemas.microsoft.com/office/drawing/2014/main" id="{0A91AE1A-0712-4BB2-B3E1-66FF9C8808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33812" y="253833"/>
            <a:ext cx="1930357" cy="133518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10">
            <a:extLst>
              <a:ext uri="{FF2B5EF4-FFF2-40B4-BE49-F238E27FC236}">
                <a16:creationId xmlns:a16="http://schemas.microsoft.com/office/drawing/2014/main" id="{B7309D28-49A3-468A-871C-4E15662E08E4}"/>
              </a:ext>
            </a:extLst>
          </p:cNvPr>
          <p:cNvSpPr>
            <a:spLocks noChangeArrowheads="1"/>
          </p:cNvSpPr>
          <p:nvPr/>
        </p:nvSpPr>
        <p:spPr bwMode="auto">
          <a:xfrm>
            <a:off x="3406802" y="947781"/>
            <a:ext cx="5378395"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MX" altLang="es-MX" sz="2400" b="0" i="0" u="none" strike="noStrike" cap="none" normalizeH="0" baseline="0" dirty="0">
                <a:ln>
                  <a:noFill/>
                </a:ln>
                <a:solidFill>
                  <a:schemeClr val="tx1"/>
                </a:solidFill>
                <a:effectLst/>
                <a:latin typeface="Arial" panose="020B0604020202020204" pitchFamily="34" charset="0"/>
              </a:rPr>
            </a:b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Tecnológico Nacional de México</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10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Instituto Tecnológico de Frontera Comalapa</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10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Docente: </a:t>
            </a:r>
            <a:r>
              <a:rPr kumimoji="0" lang="es-ES" altLang="es-MX"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Francisco Javier Mingo Velázquez</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10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Alumna: </a:t>
            </a:r>
            <a:r>
              <a:rPr kumimoji="0" lang="es-ES" altLang="es-MX"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Elizabeth Lubia Jiménez González</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10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Materia: </a:t>
            </a:r>
            <a:r>
              <a:rPr kumimoji="0" lang="es-ES" altLang="es-MX"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Est. De datos</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10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Semestre: </a:t>
            </a:r>
            <a:r>
              <a:rPr kumimoji="0" lang="es-ES" altLang="es-MX"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3°</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10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Modalidad: </a:t>
            </a:r>
            <a:r>
              <a:rPr kumimoji="0" lang="es-ES" altLang="es-MX"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Escolarizado</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10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pt-PT"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Carrera: </a:t>
            </a:r>
            <a:r>
              <a:rPr kumimoji="0" lang="pt-PT" altLang="es-MX"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Ingenieria en Sistemas Computacionales</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10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Trabajo: </a:t>
            </a:r>
            <a:r>
              <a:rPr kumimoji="0" lang="es-ES" altLang="es-MX"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Reporte de práctica</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10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Fecha de entrega: </a:t>
            </a:r>
            <a:r>
              <a:rPr kumimoji="0" lang="es-ES" altLang="es-MX"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23 de septiembre del 2026</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10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Frontera Comalapa Chiapas</a:t>
            </a:r>
            <a:endParaRPr kumimoji="0" lang="es-MX" altLang="es-MX" sz="10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09434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66268-5F76-425C-BA47-2CA273244A59}"/>
              </a:ext>
            </a:extLst>
          </p:cNvPr>
          <p:cNvSpPr>
            <a:spLocks noGrp="1"/>
          </p:cNvSpPr>
          <p:nvPr>
            <p:ph type="title"/>
          </p:nvPr>
        </p:nvSpPr>
        <p:spPr/>
        <p:txBody>
          <a:bodyPr/>
          <a:lstStyle/>
          <a:p>
            <a:pPr algn="ctr"/>
            <a:r>
              <a:rPr lang="es-ES" dirty="0"/>
              <a:t>introducción</a:t>
            </a:r>
            <a:endParaRPr lang="es-MX" dirty="0"/>
          </a:p>
        </p:txBody>
      </p:sp>
      <p:sp>
        <p:nvSpPr>
          <p:cNvPr id="3" name="Marcador de contenido 2">
            <a:extLst>
              <a:ext uri="{FF2B5EF4-FFF2-40B4-BE49-F238E27FC236}">
                <a16:creationId xmlns:a16="http://schemas.microsoft.com/office/drawing/2014/main" id="{C2D5975F-AF95-4499-8D36-7BDA6BB13E97}"/>
              </a:ext>
            </a:extLst>
          </p:cNvPr>
          <p:cNvSpPr>
            <a:spLocks noGrp="1"/>
          </p:cNvSpPr>
          <p:nvPr>
            <p:ph idx="1"/>
          </p:nvPr>
        </p:nvSpPr>
        <p:spPr/>
        <p:txBody>
          <a:bodyPr>
            <a:normAutofit fontScale="85000" lnSpcReduction="20000"/>
          </a:bodyPr>
          <a:lstStyle/>
          <a:p>
            <a:pPr marL="0" indent="0" algn="just">
              <a:buNone/>
            </a:pPr>
            <a:r>
              <a:rPr lang="es-ES" dirty="0">
                <a:latin typeface="Arial" panose="020B0604020202020204" pitchFamily="34" charset="0"/>
                <a:cs typeface="Arial" panose="020B0604020202020204" pitchFamily="34" charset="0"/>
              </a:rPr>
              <a:t>En el presente reporte de práctica se detalla el diseño, la arquitectura y la implementación de las estructuras de datos lineales: </a:t>
            </a:r>
            <a:r>
              <a:rPr lang="es-ES" u="none" strike="noStrike" dirty="0">
                <a:effectLst/>
                <a:latin typeface="Arial" panose="020B0604020202020204" pitchFamily="34" charset="0"/>
                <a:cs typeface="Arial" panose="020B0604020202020204" pitchFamily="34" charset="0"/>
              </a:rPr>
              <a:t>Pilas, Colas y Listas</a:t>
            </a:r>
            <a:r>
              <a:rPr lang="es-ES" dirty="0">
                <a:latin typeface="Arial" panose="020B0604020202020204" pitchFamily="34" charset="0"/>
                <a:cs typeface="Arial" panose="020B0604020202020204" pitchFamily="34" charset="0"/>
              </a:rPr>
              <a:t>. El objetivo de este documento es explicar a fondo cómo está construido el programa desde su código fuente, el cual fue desarrollado bajo el patrón de diseño Vista Controlador en </a:t>
            </a:r>
            <a:r>
              <a:rPr lang="es-ES" u="none" strike="noStrike" dirty="0">
                <a:effectLst/>
                <a:latin typeface="Arial" panose="020B0604020202020204" pitchFamily="34" charset="0"/>
                <a:cs typeface="Arial" panose="020B0604020202020204" pitchFamily="34" charset="0"/>
              </a:rPr>
              <a:t>IntelliJ IDEA</a:t>
            </a:r>
            <a:r>
              <a:rPr lang="es-ES" dirty="0">
                <a:latin typeface="Arial" panose="020B0604020202020204" pitchFamily="34" charset="0"/>
                <a:cs typeface="Arial" panose="020B0604020202020204" pitchFamily="34" charset="0"/>
              </a:rPr>
              <a:t>, utilizando </a:t>
            </a:r>
            <a:r>
              <a:rPr lang="es-ES" u="none" strike="noStrike" dirty="0" err="1">
                <a:effectLst/>
                <a:latin typeface="Arial" panose="020B0604020202020204" pitchFamily="34" charset="0"/>
                <a:cs typeface="Arial" panose="020B0604020202020204" pitchFamily="34" charset="0"/>
              </a:rPr>
              <a:t>JavaFX</a:t>
            </a:r>
            <a:r>
              <a:rPr lang="es-ES" dirty="0">
                <a:latin typeface="Arial" panose="020B0604020202020204" pitchFamily="34" charset="0"/>
                <a:cs typeface="Arial" panose="020B0604020202020204" pitchFamily="34" charset="0"/>
              </a:rPr>
              <a:t> y</a:t>
            </a:r>
            <a:r>
              <a:rPr lang="es-ES" b="1" dirty="0">
                <a:latin typeface="Arial" panose="020B0604020202020204" pitchFamily="34" charset="0"/>
                <a:cs typeface="Arial" panose="020B0604020202020204" pitchFamily="34" charset="0"/>
              </a:rPr>
              <a:t> </a:t>
            </a:r>
            <a:r>
              <a:rPr lang="es-ES" u="none" strike="noStrike" dirty="0" err="1">
                <a:effectLst/>
                <a:latin typeface="Arial" panose="020B0604020202020204" pitchFamily="34" charset="0"/>
                <a:cs typeface="Arial" panose="020B0604020202020204" pitchFamily="34" charset="0"/>
              </a:rPr>
              <a:t>Scene</a:t>
            </a:r>
            <a:r>
              <a:rPr lang="es-ES" u="none" strike="noStrike" dirty="0">
                <a:effectLst/>
                <a:latin typeface="Arial" panose="020B0604020202020204" pitchFamily="34" charset="0"/>
                <a:cs typeface="Arial" panose="020B0604020202020204" pitchFamily="34" charset="0"/>
              </a:rPr>
              <a:t> </a:t>
            </a:r>
            <a:r>
              <a:rPr lang="es-ES" u="none" strike="noStrike" dirty="0" err="1">
                <a:effectLst/>
                <a:latin typeface="Arial" panose="020B0604020202020204" pitchFamily="34" charset="0"/>
                <a:cs typeface="Arial" panose="020B0604020202020204" pitchFamily="34" charset="0"/>
              </a:rPr>
              <a:t>Builder</a:t>
            </a:r>
            <a:r>
              <a:rPr lang="es-ES" dirty="0">
                <a:latin typeface="Arial" panose="020B0604020202020204" pitchFamily="34" charset="0"/>
                <a:cs typeface="Arial" panose="020B0604020202020204" pitchFamily="34" charset="0"/>
              </a:rPr>
              <a:t> para la interfaz gráfica.</a:t>
            </a:r>
          </a:p>
          <a:p>
            <a:pPr marL="0" indent="0" algn="just">
              <a:buNone/>
            </a:pPr>
            <a:r>
              <a:rPr lang="es-ES" dirty="0">
                <a:latin typeface="Arial" panose="020B0604020202020204" pitchFamily="34" charset="0"/>
                <a:cs typeface="Arial" panose="020B0604020202020204" pitchFamily="34" charset="0"/>
              </a:rPr>
              <a:t>A lo largo de este reporte, se analiza detalladamente el funcionamiento del código de cada uno de los botones del menú principal, desglosando los eventos que desencadenan. Finalmente, se incluye una sección con las capturas y la descripción de la </a:t>
            </a:r>
            <a:r>
              <a:rPr lang="es-ES" u="none" strike="noStrike" dirty="0">
                <a:effectLst/>
                <a:latin typeface="Arial" panose="020B0604020202020204" pitchFamily="34" charset="0"/>
                <a:cs typeface="Arial" panose="020B0604020202020204" pitchFamily="34" charset="0"/>
              </a:rPr>
              <a:t>ejecución real del programa.</a:t>
            </a:r>
            <a:endParaRPr lang="es-ES" dirty="0">
              <a:latin typeface="Arial" panose="020B0604020202020204" pitchFamily="34" charset="0"/>
              <a:cs typeface="Arial" panose="020B0604020202020204" pitchFamily="34" charset="0"/>
            </a:endParaRPr>
          </a:p>
          <a:p>
            <a:pPr marL="0" indent="0" algn="just">
              <a:buNone/>
            </a:pPr>
            <a:r>
              <a:rPr lang="es-ES" dirty="0">
                <a:latin typeface="Arial" panose="020B0604020202020204" pitchFamily="34" charset="0"/>
                <a:cs typeface="Arial" panose="020B0604020202020204" pitchFamily="34" charset="0"/>
              </a:rPr>
              <a:t> </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9983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CB27CE-7863-40E4-A211-302677440005}"/>
              </a:ext>
            </a:extLst>
          </p:cNvPr>
          <p:cNvSpPr>
            <a:spLocks noGrp="1"/>
          </p:cNvSpPr>
          <p:nvPr>
            <p:ph type="title"/>
          </p:nvPr>
        </p:nvSpPr>
        <p:spPr/>
        <p:txBody>
          <a:bodyPr/>
          <a:lstStyle/>
          <a:p>
            <a:pPr algn="ctr"/>
            <a:r>
              <a:rPr lang="es-ES" dirty="0"/>
              <a:t>Justificación </a:t>
            </a:r>
            <a:endParaRPr lang="es-MX" dirty="0"/>
          </a:p>
        </p:txBody>
      </p:sp>
      <p:sp>
        <p:nvSpPr>
          <p:cNvPr id="3" name="Marcador de contenido 2">
            <a:extLst>
              <a:ext uri="{FF2B5EF4-FFF2-40B4-BE49-F238E27FC236}">
                <a16:creationId xmlns:a16="http://schemas.microsoft.com/office/drawing/2014/main" id="{6C216134-10D6-4A4A-9359-04C7616A8DCF}"/>
              </a:ext>
            </a:extLst>
          </p:cNvPr>
          <p:cNvSpPr>
            <a:spLocks noGrp="1"/>
          </p:cNvSpPr>
          <p:nvPr>
            <p:ph idx="1"/>
          </p:nvPr>
        </p:nvSpPr>
        <p:spPr/>
        <p:txBody>
          <a:bodyPr>
            <a:normAutofit/>
          </a:bodyPr>
          <a:lstStyle/>
          <a:p>
            <a:pPr marL="0" indent="0" algn="just">
              <a:buNone/>
            </a:pPr>
            <a:r>
              <a:rPr lang="es-ES" sz="2000" dirty="0">
                <a:latin typeface="Arial" panose="020B0604020202020204" pitchFamily="34" charset="0"/>
                <a:cs typeface="Arial" panose="020B0604020202020204" pitchFamily="34" charset="0"/>
              </a:rPr>
              <a:t>La realización de esta práctica y la elaboración de su reporte técnico se justifican en la importancia de aprender a desarrollar software bajo estándares profesionales, yendo más allá de la simple funcionalidad del código. En el ámbito de la programación, no basta con que un programa "funcione"; es fundamental que su estructura sea limpia, organizada y fácil de mantener. Por esta razón, este proyecto se diseñó separando la lógica del negocio, el control y la interfaz gráfica en carpetas independientes de </a:t>
            </a:r>
            <a:r>
              <a:rPr lang="es-ES" sz="2000" u="none" strike="noStrike" dirty="0">
                <a:effectLst/>
                <a:latin typeface="Arial" panose="020B0604020202020204" pitchFamily="34" charset="0"/>
                <a:cs typeface="Arial" panose="020B0604020202020204" pitchFamily="34" charset="0"/>
              </a:rPr>
              <a:t>Clases</a:t>
            </a:r>
            <a:r>
              <a:rPr lang="es-ES" sz="2000" dirty="0">
                <a:latin typeface="Arial" panose="020B0604020202020204" pitchFamily="34" charset="0"/>
                <a:cs typeface="Arial" panose="020B0604020202020204" pitchFamily="34" charset="0"/>
              </a:rPr>
              <a:t>, </a:t>
            </a:r>
            <a:r>
              <a:rPr lang="es-ES" sz="2000" u="none" strike="noStrike" dirty="0" err="1">
                <a:effectLst/>
                <a:latin typeface="Arial" panose="020B0604020202020204" pitchFamily="34" charset="0"/>
                <a:cs typeface="Arial" panose="020B0604020202020204" pitchFamily="34" charset="0"/>
              </a:rPr>
              <a:t>Controllers</a:t>
            </a:r>
            <a:r>
              <a:rPr lang="es-ES" sz="2000" dirty="0">
                <a:latin typeface="Arial" panose="020B0604020202020204" pitchFamily="34" charset="0"/>
                <a:cs typeface="Arial" panose="020B0604020202020204" pitchFamily="34" charset="0"/>
              </a:rPr>
              <a:t> y </a:t>
            </a:r>
            <a:r>
              <a:rPr lang="es-ES" sz="2000" u="none" strike="noStrike" dirty="0" err="1">
                <a:effectLst/>
                <a:latin typeface="Arial" panose="020B0604020202020204" pitchFamily="34" charset="0"/>
                <a:cs typeface="Arial" panose="020B0604020202020204" pitchFamily="34" charset="0"/>
              </a:rPr>
              <a:t>Views</a:t>
            </a:r>
            <a:r>
              <a:rPr lang="es-ES" sz="2000" dirty="0">
                <a:latin typeface="Arial" panose="020B0604020202020204" pitchFamily="34" charset="0"/>
                <a:cs typeface="Arial" panose="020B0604020202020204" pitchFamily="34" charset="0"/>
              </a:rPr>
              <a:t>.</a:t>
            </a: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691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08730199-EE9B-44AE-888D-845F52A9EE88}"/>
              </a:ext>
            </a:extLst>
          </p:cNvPr>
          <p:cNvPicPr>
            <a:picLocks noGrp="1" noChangeAspect="1"/>
          </p:cNvPicPr>
          <p:nvPr>
            <p:ph idx="1"/>
          </p:nvPr>
        </p:nvPicPr>
        <p:blipFill>
          <a:blip r:embed="rId2"/>
          <a:stretch>
            <a:fillRect/>
          </a:stretch>
        </p:blipFill>
        <p:spPr>
          <a:xfrm>
            <a:off x="2528048" y="952013"/>
            <a:ext cx="3415553" cy="5305351"/>
          </a:xfrm>
        </p:spPr>
      </p:pic>
      <p:cxnSp>
        <p:nvCxnSpPr>
          <p:cNvPr id="7" name="Conector recto de flecha 6">
            <a:extLst>
              <a:ext uri="{FF2B5EF4-FFF2-40B4-BE49-F238E27FC236}">
                <a16:creationId xmlns:a16="http://schemas.microsoft.com/office/drawing/2014/main" id="{9C1FEC0D-B4BE-4F55-8339-3E4A7E7666BD}"/>
              </a:ext>
            </a:extLst>
          </p:cNvPr>
          <p:cNvCxnSpPr>
            <a:cxnSpLocks/>
          </p:cNvCxnSpPr>
          <p:nvPr/>
        </p:nvCxnSpPr>
        <p:spPr>
          <a:xfrm flipV="1">
            <a:off x="4105836" y="1649506"/>
            <a:ext cx="2402541" cy="109369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9" name="CuadroTexto 8">
            <a:extLst>
              <a:ext uri="{FF2B5EF4-FFF2-40B4-BE49-F238E27FC236}">
                <a16:creationId xmlns:a16="http://schemas.microsoft.com/office/drawing/2014/main" id="{12934263-AAD7-4CE2-94D8-C31FDF000467}"/>
              </a:ext>
            </a:extLst>
          </p:cNvPr>
          <p:cNvSpPr txBox="1"/>
          <p:nvPr/>
        </p:nvSpPr>
        <p:spPr>
          <a:xfrm>
            <a:off x="6508376" y="1228165"/>
            <a:ext cx="3415553" cy="646331"/>
          </a:xfrm>
          <a:prstGeom prst="rect">
            <a:avLst/>
          </a:prstGeom>
          <a:noFill/>
        </p:spPr>
        <p:txBody>
          <a:bodyPr wrap="square" rtlCol="0">
            <a:spAutoFit/>
          </a:bodyPr>
          <a:lstStyle/>
          <a:p>
            <a:pPr algn="just"/>
            <a:r>
              <a:rPr lang="es-ES" dirty="0"/>
              <a:t>Primero hice la carpeta de clases para colocar.</a:t>
            </a:r>
            <a:endParaRPr lang="es-MX" dirty="0"/>
          </a:p>
        </p:txBody>
      </p:sp>
      <p:sp>
        <p:nvSpPr>
          <p:cNvPr id="10" name="Llaves 9">
            <a:extLst>
              <a:ext uri="{FF2B5EF4-FFF2-40B4-BE49-F238E27FC236}">
                <a16:creationId xmlns:a16="http://schemas.microsoft.com/office/drawing/2014/main" id="{3C2CE3A3-17CC-42D7-ACFC-37B61215A412}"/>
              </a:ext>
            </a:extLst>
          </p:cNvPr>
          <p:cNvSpPr/>
          <p:nvPr/>
        </p:nvSpPr>
        <p:spPr>
          <a:xfrm>
            <a:off x="3693460" y="2743201"/>
            <a:ext cx="519952" cy="582705"/>
          </a:xfrm>
          <a:prstGeom prst="bracePair">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s-MX"/>
          </a:p>
        </p:txBody>
      </p:sp>
      <p:cxnSp>
        <p:nvCxnSpPr>
          <p:cNvPr id="12" name="Conector recto de flecha 11">
            <a:extLst>
              <a:ext uri="{FF2B5EF4-FFF2-40B4-BE49-F238E27FC236}">
                <a16:creationId xmlns:a16="http://schemas.microsoft.com/office/drawing/2014/main" id="{291B7E4B-3621-428D-8615-E7A66ECC7DE2}"/>
              </a:ext>
            </a:extLst>
          </p:cNvPr>
          <p:cNvCxnSpPr>
            <a:cxnSpLocks/>
            <a:stCxn id="10" idx="3"/>
            <a:endCxn id="13" idx="1"/>
          </p:cNvCxnSpPr>
          <p:nvPr/>
        </p:nvCxnSpPr>
        <p:spPr>
          <a:xfrm flipV="1">
            <a:off x="4213412" y="2429872"/>
            <a:ext cx="2366683" cy="60468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3" name="CuadroTexto 12">
            <a:extLst>
              <a:ext uri="{FF2B5EF4-FFF2-40B4-BE49-F238E27FC236}">
                <a16:creationId xmlns:a16="http://schemas.microsoft.com/office/drawing/2014/main" id="{09181AE2-0D8D-486C-8533-67C646AEFC23}"/>
              </a:ext>
            </a:extLst>
          </p:cNvPr>
          <p:cNvSpPr txBox="1"/>
          <p:nvPr/>
        </p:nvSpPr>
        <p:spPr>
          <a:xfrm>
            <a:off x="6580095" y="2106706"/>
            <a:ext cx="3343834" cy="646331"/>
          </a:xfrm>
          <a:prstGeom prst="rect">
            <a:avLst/>
          </a:prstGeom>
          <a:noFill/>
        </p:spPr>
        <p:txBody>
          <a:bodyPr wrap="square" rtlCol="0">
            <a:spAutoFit/>
          </a:bodyPr>
          <a:lstStyle/>
          <a:p>
            <a:r>
              <a:rPr lang="es-ES" dirty="0"/>
              <a:t>Estas son las clases de cada una de las estructuras.</a:t>
            </a:r>
            <a:endParaRPr lang="es-MX" dirty="0"/>
          </a:p>
        </p:txBody>
      </p:sp>
      <p:cxnSp>
        <p:nvCxnSpPr>
          <p:cNvPr id="17" name="Conector recto de flecha 16">
            <a:extLst>
              <a:ext uri="{FF2B5EF4-FFF2-40B4-BE49-F238E27FC236}">
                <a16:creationId xmlns:a16="http://schemas.microsoft.com/office/drawing/2014/main" id="{61960E23-755B-4114-B5A7-75AE3AC4791D}"/>
              </a:ext>
            </a:extLst>
          </p:cNvPr>
          <p:cNvCxnSpPr>
            <a:cxnSpLocks/>
            <a:endCxn id="18" idx="1"/>
          </p:cNvCxnSpPr>
          <p:nvPr/>
        </p:nvCxnSpPr>
        <p:spPr>
          <a:xfrm>
            <a:off x="4213412" y="3397625"/>
            <a:ext cx="2366683" cy="9814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8" name="CuadroTexto 17">
            <a:extLst>
              <a:ext uri="{FF2B5EF4-FFF2-40B4-BE49-F238E27FC236}">
                <a16:creationId xmlns:a16="http://schemas.microsoft.com/office/drawing/2014/main" id="{CEB84893-5ED0-4031-A344-9C8C36ADA4E0}"/>
              </a:ext>
            </a:extLst>
          </p:cNvPr>
          <p:cNvSpPr txBox="1"/>
          <p:nvPr/>
        </p:nvSpPr>
        <p:spPr>
          <a:xfrm>
            <a:off x="6580095" y="2895600"/>
            <a:ext cx="3263152" cy="1200329"/>
          </a:xfrm>
          <a:prstGeom prst="rect">
            <a:avLst/>
          </a:prstGeom>
          <a:noFill/>
        </p:spPr>
        <p:txBody>
          <a:bodyPr wrap="square" rtlCol="0">
            <a:spAutoFit/>
          </a:bodyPr>
          <a:lstStyle/>
          <a:p>
            <a:r>
              <a:rPr lang="es-ES" dirty="0"/>
              <a:t>Después hice otra carpeta para colocar los controller y especificar el código de cada estructura.</a:t>
            </a:r>
            <a:endParaRPr lang="es-MX" dirty="0"/>
          </a:p>
        </p:txBody>
      </p:sp>
      <p:sp>
        <p:nvSpPr>
          <p:cNvPr id="20" name="Llaves 19">
            <a:extLst>
              <a:ext uri="{FF2B5EF4-FFF2-40B4-BE49-F238E27FC236}">
                <a16:creationId xmlns:a16="http://schemas.microsoft.com/office/drawing/2014/main" id="{2BF7B2AF-E049-4C5D-A3AD-3A29BF353A4A}"/>
              </a:ext>
            </a:extLst>
          </p:cNvPr>
          <p:cNvSpPr/>
          <p:nvPr/>
        </p:nvSpPr>
        <p:spPr>
          <a:xfrm>
            <a:off x="3693460" y="3446695"/>
            <a:ext cx="941293" cy="582705"/>
          </a:xfrm>
          <a:prstGeom prst="bracePair">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s-MX"/>
          </a:p>
        </p:txBody>
      </p:sp>
      <p:cxnSp>
        <p:nvCxnSpPr>
          <p:cNvPr id="22" name="Conector recto de flecha 21">
            <a:extLst>
              <a:ext uri="{FF2B5EF4-FFF2-40B4-BE49-F238E27FC236}">
                <a16:creationId xmlns:a16="http://schemas.microsoft.com/office/drawing/2014/main" id="{E0F21D29-88BC-41D3-831F-47DF76D7B457}"/>
              </a:ext>
            </a:extLst>
          </p:cNvPr>
          <p:cNvCxnSpPr>
            <a:stCxn id="20" idx="3"/>
          </p:cNvCxnSpPr>
          <p:nvPr/>
        </p:nvCxnSpPr>
        <p:spPr>
          <a:xfrm>
            <a:off x="4634753" y="3738048"/>
            <a:ext cx="1873623" cy="67258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3" name="CuadroTexto 22">
            <a:extLst>
              <a:ext uri="{FF2B5EF4-FFF2-40B4-BE49-F238E27FC236}">
                <a16:creationId xmlns:a16="http://schemas.microsoft.com/office/drawing/2014/main" id="{B0E8CB10-9D81-4B99-8E92-F4907E054BC3}"/>
              </a:ext>
            </a:extLst>
          </p:cNvPr>
          <p:cNvSpPr txBox="1"/>
          <p:nvPr/>
        </p:nvSpPr>
        <p:spPr>
          <a:xfrm>
            <a:off x="6580095" y="4231341"/>
            <a:ext cx="2985247" cy="369332"/>
          </a:xfrm>
          <a:prstGeom prst="rect">
            <a:avLst/>
          </a:prstGeom>
          <a:noFill/>
        </p:spPr>
        <p:txBody>
          <a:bodyPr wrap="square" rtlCol="0">
            <a:spAutoFit/>
          </a:bodyPr>
          <a:lstStyle/>
          <a:p>
            <a:r>
              <a:rPr lang="es-ES" dirty="0"/>
              <a:t>Y estos son los controller.</a:t>
            </a:r>
            <a:endParaRPr lang="es-MX" dirty="0"/>
          </a:p>
        </p:txBody>
      </p:sp>
      <p:sp>
        <p:nvSpPr>
          <p:cNvPr id="25" name="Llaves 24">
            <a:extLst>
              <a:ext uri="{FF2B5EF4-FFF2-40B4-BE49-F238E27FC236}">
                <a16:creationId xmlns:a16="http://schemas.microsoft.com/office/drawing/2014/main" id="{862EB8EE-D32B-4CE9-9896-43D521400DE0}"/>
              </a:ext>
            </a:extLst>
          </p:cNvPr>
          <p:cNvSpPr/>
          <p:nvPr/>
        </p:nvSpPr>
        <p:spPr>
          <a:xfrm>
            <a:off x="3558989" y="4921624"/>
            <a:ext cx="941293" cy="582705"/>
          </a:xfrm>
          <a:prstGeom prst="bracePair">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s-MX"/>
          </a:p>
        </p:txBody>
      </p:sp>
      <p:cxnSp>
        <p:nvCxnSpPr>
          <p:cNvPr id="27" name="Conector recto de flecha 26">
            <a:extLst>
              <a:ext uri="{FF2B5EF4-FFF2-40B4-BE49-F238E27FC236}">
                <a16:creationId xmlns:a16="http://schemas.microsoft.com/office/drawing/2014/main" id="{8ECC121C-6759-42F7-BA04-425BB42F6710}"/>
              </a:ext>
            </a:extLst>
          </p:cNvPr>
          <p:cNvCxnSpPr/>
          <p:nvPr/>
        </p:nvCxnSpPr>
        <p:spPr>
          <a:xfrm>
            <a:off x="4482352" y="5217460"/>
            <a:ext cx="2008094"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8" name="CuadroTexto 27">
            <a:extLst>
              <a:ext uri="{FF2B5EF4-FFF2-40B4-BE49-F238E27FC236}">
                <a16:creationId xmlns:a16="http://schemas.microsoft.com/office/drawing/2014/main" id="{6B7EF7A1-4BD1-4616-B964-F6AD3CF4FB6D}"/>
              </a:ext>
            </a:extLst>
          </p:cNvPr>
          <p:cNvSpPr txBox="1"/>
          <p:nvPr/>
        </p:nvSpPr>
        <p:spPr>
          <a:xfrm>
            <a:off x="6580095" y="4814047"/>
            <a:ext cx="3263152" cy="646331"/>
          </a:xfrm>
          <a:prstGeom prst="rect">
            <a:avLst/>
          </a:prstGeom>
          <a:noFill/>
        </p:spPr>
        <p:txBody>
          <a:bodyPr wrap="square" rtlCol="0">
            <a:spAutoFit/>
          </a:bodyPr>
          <a:lstStyle/>
          <a:p>
            <a:r>
              <a:rPr lang="es-ES" dirty="0"/>
              <a:t>Estos son los códigos para el diseño de SceneBuilder.</a:t>
            </a:r>
            <a:endParaRPr lang="es-MX" dirty="0"/>
          </a:p>
        </p:txBody>
      </p:sp>
    </p:spTree>
    <p:extLst>
      <p:ext uri="{BB962C8B-B14F-4D97-AF65-F5344CB8AC3E}">
        <p14:creationId xmlns:p14="http://schemas.microsoft.com/office/powerpoint/2010/main" val="611829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8E84B6-4ABE-436A-B05A-DF5347EA3ED7}"/>
              </a:ext>
            </a:extLst>
          </p:cNvPr>
          <p:cNvSpPr>
            <a:spLocks noGrp="1"/>
          </p:cNvSpPr>
          <p:nvPr>
            <p:ph type="title"/>
          </p:nvPr>
        </p:nvSpPr>
        <p:spPr/>
        <p:txBody>
          <a:bodyPr/>
          <a:lstStyle/>
          <a:p>
            <a:r>
              <a:rPr lang="es-ES" dirty="0"/>
              <a:t>Clase de Cola</a:t>
            </a:r>
            <a:endParaRPr lang="es-MX" dirty="0"/>
          </a:p>
        </p:txBody>
      </p:sp>
      <p:pic>
        <p:nvPicPr>
          <p:cNvPr id="5" name="Marcador de contenido 4">
            <a:extLst>
              <a:ext uri="{FF2B5EF4-FFF2-40B4-BE49-F238E27FC236}">
                <a16:creationId xmlns:a16="http://schemas.microsoft.com/office/drawing/2014/main" id="{252E66CA-1D50-40FC-9155-F7792644CFF0}"/>
              </a:ext>
            </a:extLst>
          </p:cNvPr>
          <p:cNvPicPr>
            <a:picLocks noGrp="1" noChangeAspect="1"/>
          </p:cNvPicPr>
          <p:nvPr>
            <p:ph idx="1"/>
          </p:nvPr>
        </p:nvPicPr>
        <p:blipFill>
          <a:blip r:embed="rId2"/>
          <a:stretch>
            <a:fillRect/>
          </a:stretch>
        </p:blipFill>
        <p:spPr>
          <a:xfrm>
            <a:off x="115526" y="2990057"/>
            <a:ext cx="6668597" cy="3541712"/>
          </a:xfrm>
        </p:spPr>
      </p:pic>
      <p:cxnSp>
        <p:nvCxnSpPr>
          <p:cNvPr id="7" name="Conector recto de flecha 6">
            <a:extLst>
              <a:ext uri="{FF2B5EF4-FFF2-40B4-BE49-F238E27FC236}">
                <a16:creationId xmlns:a16="http://schemas.microsoft.com/office/drawing/2014/main" id="{C66F1966-1D34-4DC7-AD65-6E4CD48303BF}"/>
              </a:ext>
            </a:extLst>
          </p:cNvPr>
          <p:cNvCxnSpPr/>
          <p:nvPr/>
        </p:nvCxnSpPr>
        <p:spPr>
          <a:xfrm flipV="1">
            <a:off x="3558988" y="2384612"/>
            <a:ext cx="2017059" cy="130884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 name="CuadroTexto 7">
            <a:extLst>
              <a:ext uri="{FF2B5EF4-FFF2-40B4-BE49-F238E27FC236}">
                <a16:creationId xmlns:a16="http://schemas.microsoft.com/office/drawing/2014/main" id="{BEC7A761-782B-4780-BC6F-B4C8032FD397}"/>
              </a:ext>
            </a:extLst>
          </p:cNvPr>
          <p:cNvSpPr txBox="1"/>
          <p:nvPr/>
        </p:nvSpPr>
        <p:spPr>
          <a:xfrm>
            <a:off x="4849906" y="1521628"/>
            <a:ext cx="2017060" cy="923330"/>
          </a:xfrm>
          <a:prstGeom prst="rect">
            <a:avLst/>
          </a:prstGeom>
          <a:noFill/>
        </p:spPr>
        <p:txBody>
          <a:bodyPr wrap="square" rtlCol="0">
            <a:spAutoFit/>
          </a:bodyPr>
          <a:lstStyle/>
          <a:p>
            <a:pPr algn="just"/>
            <a:r>
              <a:rPr lang="es-ES" dirty="0"/>
              <a:t>Son importaciones para llamar ciertas herramientas.</a:t>
            </a:r>
            <a:endParaRPr lang="es-MX" dirty="0"/>
          </a:p>
        </p:txBody>
      </p:sp>
      <p:cxnSp>
        <p:nvCxnSpPr>
          <p:cNvPr id="10" name="Conector recto de flecha 9">
            <a:extLst>
              <a:ext uri="{FF2B5EF4-FFF2-40B4-BE49-F238E27FC236}">
                <a16:creationId xmlns:a16="http://schemas.microsoft.com/office/drawing/2014/main" id="{979644A7-8827-4CFD-9F27-E3680BA1594A}"/>
              </a:ext>
            </a:extLst>
          </p:cNvPr>
          <p:cNvCxnSpPr/>
          <p:nvPr/>
        </p:nvCxnSpPr>
        <p:spPr>
          <a:xfrm flipV="1">
            <a:off x="3440859" y="2990057"/>
            <a:ext cx="3596435" cy="118749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1" name="CuadroTexto 10">
            <a:extLst>
              <a:ext uri="{FF2B5EF4-FFF2-40B4-BE49-F238E27FC236}">
                <a16:creationId xmlns:a16="http://schemas.microsoft.com/office/drawing/2014/main" id="{D7B4DFC2-82BC-4DFD-A257-C3C9A5159DDC}"/>
              </a:ext>
            </a:extLst>
          </p:cNvPr>
          <p:cNvSpPr txBox="1"/>
          <p:nvPr/>
        </p:nvSpPr>
        <p:spPr>
          <a:xfrm>
            <a:off x="6974541" y="2510118"/>
            <a:ext cx="2017059" cy="646331"/>
          </a:xfrm>
          <a:prstGeom prst="rect">
            <a:avLst/>
          </a:prstGeom>
          <a:noFill/>
        </p:spPr>
        <p:txBody>
          <a:bodyPr wrap="square" rtlCol="0">
            <a:spAutoFit/>
          </a:bodyPr>
          <a:lstStyle/>
          <a:p>
            <a:r>
              <a:rPr lang="es-ES" dirty="0"/>
              <a:t>Este código sirve para insertar.</a:t>
            </a:r>
            <a:endParaRPr lang="es-MX" dirty="0"/>
          </a:p>
        </p:txBody>
      </p:sp>
      <p:cxnSp>
        <p:nvCxnSpPr>
          <p:cNvPr id="13" name="Conector recto de flecha 12">
            <a:extLst>
              <a:ext uri="{FF2B5EF4-FFF2-40B4-BE49-F238E27FC236}">
                <a16:creationId xmlns:a16="http://schemas.microsoft.com/office/drawing/2014/main" id="{8382B838-E18F-47CE-BE91-6AA70544B409}"/>
              </a:ext>
            </a:extLst>
          </p:cNvPr>
          <p:cNvCxnSpPr/>
          <p:nvPr/>
        </p:nvCxnSpPr>
        <p:spPr>
          <a:xfrm flipV="1">
            <a:off x="3422929" y="3971364"/>
            <a:ext cx="3668153" cy="42134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CuadroTexto 13">
            <a:extLst>
              <a:ext uri="{FF2B5EF4-FFF2-40B4-BE49-F238E27FC236}">
                <a16:creationId xmlns:a16="http://schemas.microsoft.com/office/drawing/2014/main" id="{7531391F-0671-4732-A79E-8A9BF8FF6EA8}"/>
              </a:ext>
            </a:extLst>
          </p:cNvPr>
          <p:cNvSpPr txBox="1"/>
          <p:nvPr/>
        </p:nvSpPr>
        <p:spPr>
          <a:xfrm>
            <a:off x="7037294" y="3585882"/>
            <a:ext cx="2205318" cy="646331"/>
          </a:xfrm>
          <a:prstGeom prst="rect">
            <a:avLst/>
          </a:prstGeom>
          <a:noFill/>
        </p:spPr>
        <p:txBody>
          <a:bodyPr wrap="square" rtlCol="0">
            <a:spAutoFit/>
          </a:bodyPr>
          <a:lstStyle/>
          <a:p>
            <a:r>
              <a:rPr lang="es-ES" dirty="0"/>
              <a:t>Es para eliminar los datos.</a:t>
            </a:r>
            <a:endParaRPr lang="es-MX" dirty="0"/>
          </a:p>
        </p:txBody>
      </p:sp>
      <p:cxnSp>
        <p:nvCxnSpPr>
          <p:cNvPr id="16" name="Conector recto de flecha 15">
            <a:extLst>
              <a:ext uri="{FF2B5EF4-FFF2-40B4-BE49-F238E27FC236}">
                <a16:creationId xmlns:a16="http://schemas.microsoft.com/office/drawing/2014/main" id="{F0DA460D-C242-4B9D-BFEA-B18D84CEC0FD}"/>
              </a:ext>
            </a:extLst>
          </p:cNvPr>
          <p:cNvCxnSpPr/>
          <p:nvPr/>
        </p:nvCxnSpPr>
        <p:spPr>
          <a:xfrm>
            <a:off x="3422929" y="4554071"/>
            <a:ext cx="3641259" cy="6275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7" name="CuadroTexto 16">
            <a:extLst>
              <a:ext uri="{FF2B5EF4-FFF2-40B4-BE49-F238E27FC236}">
                <a16:creationId xmlns:a16="http://schemas.microsoft.com/office/drawing/2014/main" id="{84EC9BB0-1338-4FDE-B43B-2ADE8BB62CEA}"/>
              </a:ext>
            </a:extLst>
          </p:cNvPr>
          <p:cNvSpPr txBox="1"/>
          <p:nvPr/>
        </p:nvSpPr>
        <p:spPr>
          <a:xfrm>
            <a:off x="6992467" y="4191324"/>
            <a:ext cx="2357718" cy="646331"/>
          </a:xfrm>
          <a:prstGeom prst="rect">
            <a:avLst/>
          </a:prstGeom>
          <a:noFill/>
        </p:spPr>
        <p:txBody>
          <a:bodyPr wrap="square" rtlCol="0">
            <a:spAutoFit/>
          </a:bodyPr>
          <a:lstStyle/>
          <a:p>
            <a:r>
              <a:rPr lang="es-ES" dirty="0"/>
              <a:t>Esto es para ver los datos de frente.</a:t>
            </a:r>
            <a:endParaRPr lang="es-MX" dirty="0"/>
          </a:p>
        </p:txBody>
      </p:sp>
      <p:cxnSp>
        <p:nvCxnSpPr>
          <p:cNvPr id="19" name="Conector recto de flecha 18">
            <a:extLst>
              <a:ext uri="{FF2B5EF4-FFF2-40B4-BE49-F238E27FC236}">
                <a16:creationId xmlns:a16="http://schemas.microsoft.com/office/drawing/2014/main" id="{8454BB58-878E-44E8-A953-DAE77123FBB0}"/>
              </a:ext>
            </a:extLst>
          </p:cNvPr>
          <p:cNvCxnSpPr/>
          <p:nvPr/>
        </p:nvCxnSpPr>
        <p:spPr>
          <a:xfrm>
            <a:off x="3245224" y="4769224"/>
            <a:ext cx="3792070" cy="28687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0" name="CuadroTexto 19">
            <a:extLst>
              <a:ext uri="{FF2B5EF4-FFF2-40B4-BE49-F238E27FC236}">
                <a16:creationId xmlns:a16="http://schemas.microsoft.com/office/drawing/2014/main" id="{6FB81AAD-D98C-432F-AD56-32F78D84C9F9}"/>
              </a:ext>
            </a:extLst>
          </p:cNvPr>
          <p:cNvSpPr txBox="1"/>
          <p:nvPr/>
        </p:nvSpPr>
        <p:spPr>
          <a:xfrm>
            <a:off x="7091082" y="4837655"/>
            <a:ext cx="2357718" cy="646331"/>
          </a:xfrm>
          <a:prstGeom prst="rect">
            <a:avLst/>
          </a:prstGeom>
          <a:noFill/>
        </p:spPr>
        <p:txBody>
          <a:bodyPr wrap="square" rtlCol="0">
            <a:spAutoFit/>
          </a:bodyPr>
          <a:lstStyle/>
          <a:p>
            <a:r>
              <a:rPr lang="es-ES" dirty="0"/>
              <a:t>Para mostrar todos los datos en una fila.</a:t>
            </a:r>
            <a:endParaRPr lang="es-MX" dirty="0"/>
          </a:p>
        </p:txBody>
      </p:sp>
      <p:cxnSp>
        <p:nvCxnSpPr>
          <p:cNvPr id="22" name="Conector recto de flecha 21">
            <a:extLst>
              <a:ext uri="{FF2B5EF4-FFF2-40B4-BE49-F238E27FC236}">
                <a16:creationId xmlns:a16="http://schemas.microsoft.com/office/drawing/2014/main" id="{63BF40A3-53E1-4E58-8AD1-D447D3D01A7E}"/>
              </a:ext>
            </a:extLst>
          </p:cNvPr>
          <p:cNvCxnSpPr/>
          <p:nvPr/>
        </p:nvCxnSpPr>
        <p:spPr>
          <a:xfrm>
            <a:off x="3065929" y="4984376"/>
            <a:ext cx="4114800" cy="100404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3" name="CuadroTexto 22">
            <a:extLst>
              <a:ext uri="{FF2B5EF4-FFF2-40B4-BE49-F238E27FC236}">
                <a16:creationId xmlns:a16="http://schemas.microsoft.com/office/drawing/2014/main" id="{32549B8C-8735-4456-AFEB-3FD8CCAFCD81}"/>
              </a:ext>
            </a:extLst>
          </p:cNvPr>
          <p:cNvSpPr txBox="1"/>
          <p:nvPr/>
        </p:nvSpPr>
        <p:spPr>
          <a:xfrm>
            <a:off x="7234517" y="5601193"/>
            <a:ext cx="2743201" cy="646331"/>
          </a:xfrm>
          <a:prstGeom prst="rect">
            <a:avLst/>
          </a:prstGeom>
          <a:noFill/>
        </p:spPr>
        <p:txBody>
          <a:bodyPr wrap="square" rtlCol="0">
            <a:spAutoFit/>
          </a:bodyPr>
          <a:lstStyle/>
          <a:p>
            <a:r>
              <a:rPr lang="es-ES" dirty="0"/>
              <a:t>Para mostrar la cantidad de datos que ingresamos.</a:t>
            </a:r>
            <a:endParaRPr lang="es-MX" dirty="0"/>
          </a:p>
        </p:txBody>
      </p:sp>
    </p:spTree>
    <p:extLst>
      <p:ext uri="{BB962C8B-B14F-4D97-AF65-F5344CB8AC3E}">
        <p14:creationId xmlns:p14="http://schemas.microsoft.com/office/powerpoint/2010/main" val="1011580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2881A7-732B-4A33-85EF-66951F48302E}"/>
              </a:ext>
            </a:extLst>
          </p:cNvPr>
          <p:cNvSpPr>
            <a:spLocks noGrp="1"/>
          </p:cNvSpPr>
          <p:nvPr>
            <p:ph type="title"/>
          </p:nvPr>
        </p:nvSpPr>
        <p:spPr/>
        <p:txBody>
          <a:bodyPr/>
          <a:lstStyle/>
          <a:p>
            <a:r>
              <a:rPr lang="es-ES" dirty="0"/>
              <a:t>Clase de lista </a:t>
            </a:r>
            <a:endParaRPr lang="es-MX" dirty="0"/>
          </a:p>
        </p:txBody>
      </p:sp>
      <p:pic>
        <p:nvPicPr>
          <p:cNvPr id="5" name="Marcador de contenido 4">
            <a:extLst>
              <a:ext uri="{FF2B5EF4-FFF2-40B4-BE49-F238E27FC236}">
                <a16:creationId xmlns:a16="http://schemas.microsoft.com/office/drawing/2014/main" id="{78C14F17-B2A9-48D7-8A21-B7C7AD6D6A17}"/>
              </a:ext>
            </a:extLst>
          </p:cNvPr>
          <p:cNvPicPr>
            <a:picLocks noGrp="1" noChangeAspect="1"/>
          </p:cNvPicPr>
          <p:nvPr>
            <p:ph idx="1"/>
          </p:nvPr>
        </p:nvPicPr>
        <p:blipFill>
          <a:blip r:embed="rId2"/>
          <a:stretch>
            <a:fillRect/>
          </a:stretch>
        </p:blipFill>
        <p:spPr>
          <a:xfrm>
            <a:off x="189236" y="3190782"/>
            <a:ext cx="6682541" cy="3541712"/>
          </a:xfrm>
        </p:spPr>
      </p:pic>
      <p:cxnSp>
        <p:nvCxnSpPr>
          <p:cNvPr id="7" name="Conector recto de flecha 6">
            <a:extLst>
              <a:ext uri="{FF2B5EF4-FFF2-40B4-BE49-F238E27FC236}">
                <a16:creationId xmlns:a16="http://schemas.microsoft.com/office/drawing/2014/main" id="{6DB8F73B-AA6E-4C39-AF35-9DA14457B69C}"/>
              </a:ext>
            </a:extLst>
          </p:cNvPr>
          <p:cNvCxnSpPr/>
          <p:nvPr/>
        </p:nvCxnSpPr>
        <p:spPr>
          <a:xfrm flipV="1">
            <a:off x="3424518" y="2743200"/>
            <a:ext cx="744070" cy="159571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 name="CuadroTexto 7">
            <a:extLst>
              <a:ext uri="{FF2B5EF4-FFF2-40B4-BE49-F238E27FC236}">
                <a16:creationId xmlns:a16="http://schemas.microsoft.com/office/drawing/2014/main" id="{8807AEC7-3738-4F0D-825F-6A47C903EF92}"/>
              </a:ext>
            </a:extLst>
          </p:cNvPr>
          <p:cNvSpPr txBox="1"/>
          <p:nvPr/>
        </p:nvSpPr>
        <p:spPr>
          <a:xfrm>
            <a:off x="3030071" y="2176570"/>
            <a:ext cx="2483223" cy="646331"/>
          </a:xfrm>
          <a:prstGeom prst="rect">
            <a:avLst/>
          </a:prstGeom>
          <a:noFill/>
        </p:spPr>
        <p:txBody>
          <a:bodyPr wrap="square" rtlCol="0">
            <a:spAutoFit/>
          </a:bodyPr>
          <a:lstStyle/>
          <a:p>
            <a:pPr algn="just"/>
            <a:r>
              <a:rPr lang="es-ES" dirty="0"/>
              <a:t>Este es un elemento para agregar los elementos.</a:t>
            </a:r>
            <a:endParaRPr lang="es-MX" dirty="0"/>
          </a:p>
        </p:txBody>
      </p:sp>
      <p:cxnSp>
        <p:nvCxnSpPr>
          <p:cNvPr id="10" name="Conector recto de flecha 9">
            <a:extLst>
              <a:ext uri="{FF2B5EF4-FFF2-40B4-BE49-F238E27FC236}">
                <a16:creationId xmlns:a16="http://schemas.microsoft.com/office/drawing/2014/main" id="{8174B3DD-2B7B-4655-8706-502A3E5763D0}"/>
              </a:ext>
            </a:extLst>
          </p:cNvPr>
          <p:cNvCxnSpPr/>
          <p:nvPr/>
        </p:nvCxnSpPr>
        <p:spPr>
          <a:xfrm flipV="1">
            <a:off x="3639671" y="2822901"/>
            <a:ext cx="2716305" cy="171324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1" name="CuadroTexto 10">
            <a:extLst>
              <a:ext uri="{FF2B5EF4-FFF2-40B4-BE49-F238E27FC236}">
                <a16:creationId xmlns:a16="http://schemas.microsoft.com/office/drawing/2014/main" id="{55FF0A24-1BA5-4D0D-AB2B-0C0C3B389932}"/>
              </a:ext>
            </a:extLst>
          </p:cNvPr>
          <p:cNvSpPr txBox="1"/>
          <p:nvPr/>
        </p:nvSpPr>
        <p:spPr>
          <a:xfrm>
            <a:off x="5601964" y="1944287"/>
            <a:ext cx="2411508" cy="923330"/>
          </a:xfrm>
          <a:prstGeom prst="rect">
            <a:avLst/>
          </a:prstGeom>
          <a:noFill/>
        </p:spPr>
        <p:txBody>
          <a:bodyPr wrap="square" rtlCol="0">
            <a:spAutoFit/>
          </a:bodyPr>
          <a:lstStyle/>
          <a:p>
            <a:r>
              <a:rPr lang="es-ES" dirty="0"/>
              <a:t>Para agregar el botón de eliminar elementos del índice.</a:t>
            </a:r>
            <a:endParaRPr lang="es-MX" dirty="0"/>
          </a:p>
        </p:txBody>
      </p:sp>
      <p:sp>
        <p:nvSpPr>
          <p:cNvPr id="12" name="Cerrar llave 11">
            <a:extLst>
              <a:ext uri="{FF2B5EF4-FFF2-40B4-BE49-F238E27FC236}">
                <a16:creationId xmlns:a16="http://schemas.microsoft.com/office/drawing/2014/main" id="{2B548193-9A90-4AFB-B52D-7846151E10FC}"/>
              </a:ext>
            </a:extLst>
          </p:cNvPr>
          <p:cNvSpPr/>
          <p:nvPr/>
        </p:nvSpPr>
        <p:spPr>
          <a:xfrm>
            <a:off x="5091955" y="4961638"/>
            <a:ext cx="340659" cy="865421"/>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s-MX"/>
          </a:p>
        </p:txBody>
      </p:sp>
      <p:cxnSp>
        <p:nvCxnSpPr>
          <p:cNvPr id="14" name="Conector recto de flecha 13">
            <a:extLst>
              <a:ext uri="{FF2B5EF4-FFF2-40B4-BE49-F238E27FC236}">
                <a16:creationId xmlns:a16="http://schemas.microsoft.com/office/drawing/2014/main" id="{5AC426D0-6DF2-4BDB-A9D1-8B430C6794A9}"/>
              </a:ext>
            </a:extLst>
          </p:cNvPr>
          <p:cNvCxnSpPr/>
          <p:nvPr/>
        </p:nvCxnSpPr>
        <p:spPr>
          <a:xfrm flipV="1">
            <a:off x="5414684" y="3998259"/>
            <a:ext cx="2115668" cy="138953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5" name="CuadroTexto 14">
            <a:extLst>
              <a:ext uri="{FF2B5EF4-FFF2-40B4-BE49-F238E27FC236}">
                <a16:creationId xmlns:a16="http://schemas.microsoft.com/office/drawing/2014/main" id="{513B42EC-9C48-4F5A-A913-B9675C73EF5D}"/>
              </a:ext>
            </a:extLst>
          </p:cNvPr>
          <p:cNvSpPr txBox="1"/>
          <p:nvPr/>
        </p:nvSpPr>
        <p:spPr>
          <a:xfrm>
            <a:off x="7413810" y="3429000"/>
            <a:ext cx="2576707" cy="923330"/>
          </a:xfrm>
          <a:prstGeom prst="rect">
            <a:avLst/>
          </a:prstGeom>
          <a:noFill/>
        </p:spPr>
        <p:txBody>
          <a:bodyPr wrap="square" rtlCol="0">
            <a:spAutoFit/>
          </a:bodyPr>
          <a:lstStyle/>
          <a:p>
            <a:pPr algn="just"/>
            <a:r>
              <a:rPr lang="es-ES" dirty="0"/>
              <a:t>E igual estos son los códigos para los demás botones.</a:t>
            </a:r>
            <a:endParaRPr lang="es-MX" dirty="0"/>
          </a:p>
        </p:txBody>
      </p:sp>
    </p:spTree>
    <p:extLst>
      <p:ext uri="{BB962C8B-B14F-4D97-AF65-F5344CB8AC3E}">
        <p14:creationId xmlns:p14="http://schemas.microsoft.com/office/powerpoint/2010/main" val="1518275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1BDAD3-014E-4EFB-8C0B-758E6068ED7F}"/>
              </a:ext>
            </a:extLst>
          </p:cNvPr>
          <p:cNvSpPr>
            <a:spLocks noGrp="1"/>
          </p:cNvSpPr>
          <p:nvPr>
            <p:ph type="title"/>
          </p:nvPr>
        </p:nvSpPr>
        <p:spPr/>
        <p:txBody>
          <a:bodyPr/>
          <a:lstStyle/>
          <a:p>
            <a:r>
              <a:rPr lang="es-ES" dirty="0"/>
              <a:t> Clase de Pila</a:t>
            </a:r>
            <a:endParaRPr lang="es-MX" dirty="0"/>
          </a:p>
        </p:txBody>
      </p:sp>
      <p:pic>
        <p:nvPicPr>
          <p:cNvPr id="5" name="Marcador de contenido 4">
            <a:extLst>
              <a:ext uri="{FF2B5EF4-FFF2-40B4-BE49-F238E27FC236}">
                <a16:creationId xmlns:a16="http://schemas.microsoft.com/office/drawing/2014/main" id="{156D306B-F402-4A7B-9B45-6F9872F9EBBF}"/>
              </a:ext>
            </a:extLst>
          </p:cNvPr>
          <p:cNvPicPr>
            <a:picLocks noGrp="1" noChangeAspect="1"/>
          </p:cNvPicPr>
          <p:nvPr>
            <p:ph idx="1"/>
          </p:nvPr>
        </p:nvPicPr>
        <p:blipFill>
          <a:blip r:embed="rId2"/>
          <a:stretch>
            <a:fillRect/>
          </a:stretch>
        </p:blipFill>
        <p:spPr>
          <a:xfrm>
            <a:off x="498491" y="2990057"/>
            <a:ext cx="6117819" cy="3541712"/>
          </a:xfrm>
        </p:spPr>
      </p:pic>
      <p:sp>
        <p:nvSpPr>
          <p:cNvPr id="6" name="Cerrar llave 5">
            <a:extLst>
              <a:ext uri="{FF2B5EF4-FFF2-40B4-BE49-F238E27FC236}">
                <a16:creationId xmlns:a16="http://schemas.microsoft.com/office/drawing/2014/main" id="{1DE11469-9E12-48DF-A965-2AF99AE80486}"/>
              </a:ext>
            </a:extLst>
          </p:cNvPr>
          <p:cNvSpPr/>
          <p:nvPr/>
        </p:nvSpPr>
        <p:spPr>
          <a:xfrm>
            <a:off x="5827059" y="3863788"/>
            <a:ext cx="537882" cy="1362636"/>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s-MX"/>
          </a:p>
        </p:txBody>
      </p:sp>
      <p:cxnSp>
        <p:nvCxnSpPr>
          <p:cNvPr id="8" name="Conector recto de flecha 7">
            <a:extLst>
              <a:ext uri="{FF2B5EF4-FFF2-40B4-BE49-F238E27FC236}">
                <a16:creationId xmlns:a16="http://schemas.microsoft.com/office/drawing/2014/main" id="{16C1867C-203B-49FE-834B-0665334E7077}"/>
              </a:ext>
            </a:extLst>
          </p:cNvPr>
          <p:cNvCxnSpPr>
            <a:cxnSpLocks/>
            <a:stCxn id="6" idx="1"/>
            <a:endCxn id="9" idx="1"/>
          </p:cNvCxnSpPr>
          <p:nvPr/>
        </p:nvCxnSpPr>
        <p:spPr>
          <a:xfrm>
            <a:off x="6364941" y="4545106"/>
            <a:ext cx="950259" cy="20449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9" name="CuadroTexto 8">
            <a:extLst>
              <a:ext uri="{FF2B5EF4-FFF2-40B4-BE49-F238E27FC236}">
                <a16:creationId xmlns:a16="http://schemas.microsoft.com/office/drawing/2014/main" id="{4966D595-379D-43A1-B8A3-21C85C3F2343}"/>
              </a:ext>
            </a:extLst>
          </p:cNvPr>
          <p:cNvSpPr txBox="1"/>
          <p:nvPr/>
        </p:nvSpPr>
        <p:spPr>
          <a:xfrm>
            <a:off x="7315200" y="3041440"/>
            <a:ext cx="2743200" cy="3416320"/>
          </a:xfrm>
          <a:prstGeom prst="rect">
            <a:avLst/>
          </a:prstGeom>
          <a:noFill/>
        </p:spPr>
        <p:txBody>
          <a:bodyPr wrap="square" rtlCol="0">
            <a:spAutoFit/>
          </a:bodyPr>
          <a:lstStyle/>
          <a:p>
            <a:pPr algn="just"/>
            <a:r>
              <a:rPr lang="es-ES" dirty="0"/>
              <a:t>Estos igual son códigos para dar mención lo que tiene que hacer cada botón.</a:t>
            </a:r>
          </a:p>
          <a:p>
            <a:pPr algn="just"/>
            <a:r>
              <a:rPr lang="es-ES" dirty="0"/>
              <a:t>Uno para insertar.</a:t>
            </a:r>
          </a:p>
          <a:p>
            <a:pPr algn="just"/>
            <a:r>
              <a:rPr lang="es-ES" dirty="0"/>
              <a:t>Otro para eliminar. </a:t>
            </a:r>
          </a:p>
          <a:p>
            <a:pPr algn="just"/>
            <a:r>
              <a:rPr lang="es-ES" dirty="0"/>
              <a:t>Para hacer un tope o cual es el ultimo.</a:t>
            </a:r>
            <a:endParaRPr lang="es-MX" dirty="0"/>
          </a:p>
          <a:p>
            <a:pPr algn="just"/>
            <a:r>
              <a:rPr lang="es-MX" dirty="0"/>
              <a:t>Para mostrar todos los números insertados.</a:t>
            </a:r>
          </a:p>
          <a:p>
            <a:pPr algn="just"/>
            <a:r>
              <a:rPr lang="es-MX" dirty="0"/>
              <a:t>Y para limpiar y dejar limpio el espacio.</a:t>
            </a:r>
            <a:endParaRPr lang="es-ES" dirty="0"/>
          </a:p>
        </p:txBody>
      </p:sp>
    </p:spTree>
    <p:extLst>
      <p:ext uri="{BB962C8B-B14F-4D97-AF65-F5344CB8AC3E}">
        <p14:creationId xmlns:p14="http://schemas.microsoft.com/office/powerpoint/2010/main" val="1474576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72ACCB-62AC-4374-8911-FBE1188252BF}"/>
              </a:ext>
            </a:extLst>
          </p:cNvPr>
          <p:cNvSpPr>
            <a:spLocks noGrp="1"/>
          </p:cNvSpPr>
          <p:nvPr>
            <p:ph type="title"/>
          </p:nvPr>
        </p:nvSpPr>
        <p:spPr>
          <a:xfrm>
            <a:off x="1143001" y="618518"/>
            <a:ext cx="9905998" cy="1478570"/>
          </a:xfrm>
        </p:spPr>
        <p:txBody>
          <a:bodyPr/>
          <a:lstStyle/>
          <a:p>
            <a:r>
              <a:rPr lang="es-ES" dirty="0"/>
              <a:t>Cola Controller</a:t>
            </a:r>
            <a:endParaRPr lang="es-MX" dirty="0"/>
          </a:p>
        </p:txBody>
      </p:sp>
      <p:pic>
        <p:nvPicPr>
          <p:cNvPr id="5" name="Marcador de contenido 4">
            <a:extLst>
              <a:ext uri="{FF2B5EF4-FFF2-40B4-BE49-F238E27FC236}">
                <a16:creationId xmlns:a16="http://schemas.microsoft.com/office/drawing/2014/main" id="{FE4C40DF-F7B9-43F5-8540-2AC7F6912FFB}"/>
              </a:ext>
            </a:extLst>
          </p:cNvPr>
          <p:cNvPicPr>
            <a:picLocks noGrp="1" noChangeAspect="1"/>
          </p:cNvPicPr>
          <p:nvPr>
            <p:ph idx="1"/>
          </p:nvPr>
        </p:nvPicPr>
        <p:blipFill>
          <a:blip r:embed="rId2"/>
          <a:stretch>
            <a:fillRect/>
          </a:stretch>
        </p:blipFill>
        <p:spPr>
          <a:xfrm>
            <a:off x="410062" y="3428999"/>
            <a:ext cx="5860107" cy="3102769"/>
          </a:xfrm>
        </p:spPr>
      </p:pic>
      <p:sp>
        <p:nvSpPr>
          <p:cNvPr id="6" name="Elipse 5">
            <a:extLst>
              <a:ext uri="{FF2B5EF4-FFF2-40B4-BE49-F238E27FC236}">
                <a16:creationId xmlns:a16="http://schemas.microsoft.com/office/drawing/2014/main" id="{6BD13C35-F0A8-449C-A228-4A7AB3B94407}"/>
              </a:ext>
            </a:extLst>
          </p:cNvPr>
          <p:cNvSpPr/>
          <p:nvPr/>
        </p:nvSpPr>
        <p:spPr>
          <a:xfrm>
            <a:off x="2160495" y="3854824"/>
            <a:ext cx="2303930" cy="842682"/>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s-MX"/>
          </a:p>
        </p:txBody>
      </p:sp>
      <p:cxnSp>
        <p:nvCxnSpPr>
          <p:cNvPr id="8" name="Conector recto de flecha 7">
            <a:extLst>
              <a:ext uri="{FF2B5EF4-FFF2-40B4-BE49-F238E27FC236}">
                <a16:creationId xmlns:a16="http://schemas.microsoft.com/office/drawing/2014/main" id="{BAA5EC04-7315-451E-ADE6-7E5F173A5880}"/>
              </a:ext>
            </a:extLst>
          </p:cNvPr>
          <p:cNvCxnSpPr>
            <a:cxnSpLocks/>
            <a:stCxn id="6" idx="0"/>
          </p:cNvCxnSpPr>
          <p:nvPr/>
        </p:nvCxnSpPr>
        <p:spPr>
          <a:xfrm flipV="1">
            <a:off x="3312460" y="3218329"/>
            <a:ext cx="802340" cy="63649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0" name="CuadroTexto 9">
            <a:extLst>
              <a:ext uri="{FF2B5EF4-FFF2-40B4-BE49-F238E27FC236}">
                <a16:creationId xmlns:a16="http://schemas.microsoft.com/office/drawing/2014/main" id="{8221EADF-A4D3-4AD4-97D9-826552454B79}"/>
              </a:ext>
            </a:extLst>
          </p:cNvPr>
          <p:cNvSpPr txBox="1"/>
          <p:nvPr/>
        </p:nvSpPr>
        <p:spPr>
          <a:xfrm>
            <a:off x="2563906" y="2522913"/>
            <a:ext cx="2720788" cy="923330"/>
          </a:xfrm>
          <a:prstGeom prst="rect">
            <a:avLst/>
          </a:prstGeom>
          <a:noFill/>
        </p:spPr>
        <p:txBody>
          <a:bodyPr wrap="square" rtlCol="0">
            <a:spAutoFit/>
          </a:bodyPr>
          <a:lstStyle/>
          <a:p>
            <a:r>
              <a:rPr lang="es-ES" dirty="0"/>
              <a:t>Son las importaciones para llamar las herramientas de SceneBuilder.</a:t>
            </a:r>
            <a:endParaRPr lang="es-MX" dirty="0"/>
          </a:p>
        </p:txBody>
      </p:sp>
      <p:sp>
        <p:nvSpPr>
          <p:cNvPr id="12" name="Rectángulo 11">
            <a:extLst>
              <a:ext uri="{FF2B5EF4-FFF2-40B4-BE49-F238E27FC236}">
                <a16:creationId xmlns:a16="http://schemas.microsoft.com/office/drawing/2014/main" id="{C6BB43EA-3F2F-4C21-BAFA-D2694FD804B6}"/>
              </a:ext>
            </a:extLst>
          </p:cNvPr>
          <p:cNvSpPr/>
          <p:nvPr/>
        </p:nvSpPr>
        <p:spPr>
          <a:xfrm>
            <a:off x="2563906" y="4814047"/>
            <a:ext cx="1748118" cy="493059"/>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s-MX"/>
          </a:p>
        </p:txBody>
      </p:sp>
      <p:cxnSp>
        <p:nvCxnSpPr>
          <p:cNvPr id="14" name="Conector recto de flecha 13">
            <a:extLst>
              <a:ext uri="{FF2B5EF4-FFF2-40B4-BE49-F238E27FC236}">
                <a16:creationId xmlns:a16="http://schemas.microsoft.com/office/drawing/2014/main" id="{162FE2CF-040E-44CA-AF0C-A721990CE6BC}"/>
              </a:ext>
            </a:extLst>
          </p:cNvPr>
          <p:cNvCxnSpPr/>
          <p:nvPr/>
        </p:nvCxnSpPr>
        <p:spPr>
          <a:xfrm flipV="1">
            <a:off x="3854824" y="3218329"/>
            <a:ext cx="2483223" cy="168924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5" name="CuadroTexto 14">
            <a:extLst>
              <a:ext uri="{FF2B5EF4-FFF2-40B4-BE49-F238E27FC236}">
                <a16:creationId xmlns:a16="http://schemas.microsoft.com/office/drawing/2014/main" id="{2B8ED172-1C16-4BC1-B439-A103EEEBA214}"/>
              </a:ext>
            </a:extLst>
          </p:cNvPr>
          <p:cNvSpPr txBox="1"/>
          <p:nvPr/>
        </p:nvSpPr>
        <p:spPr>
          <a:xfrm>
            <a:off x="5472955" y="2319273"/>
            <a:ext cx="2868706" cy="923330"/>
          </a:xfrm>
          <a:prstGeom prst="rect">
            <a:avLst/>
          </a:prstGeom>
          <a:noFill/>
        </p:spPr>
        <p:txBody>
          <a:bodyPr wrap="square" rtlCol="0">
            <a:spAutoFit/>
          </a:bodyPr>
          <a:lstStyle/>
          <a:p>
            <a:r>
              <a:rPr lang="es-ES" dirty="0"/>
              <a:t>Estos son los FXML para interactuar con los botones de </a:t>
            </a:r>
            <a:r>
              <a:rPr lang="es-ES" dirty="0" err="1"/>
              <a:t>Scene</a:t>
            </a:r>
            <a:r>
              <a:rPr lang="es-ES" dirty="0"/>
              <a:t> </a:t>
            </a:r>
            <a:r>
              <a:rPr lang="es-ES" dirty="0" err="1"/>
              <a:t>Builder</a:t>
            </a:r>
            <a:r>
              <a:rPr lang="es-ES" dirty="0"/>
              <a:t>.</a:t>
            </a:r>
            <a:endParaRPr lang="es-MX" dirty="0"/>
          </a:p>
        </p:txBody>
      </p:sp>
    </p:spTree>
    <p:extLst>
      <p:ext uri="{BB962C8B-B14F-4D97-AF65-F5344CB8AC3E}">
        <p14:creationId xmlns:p14="http://schemas.microsoft.com/office/powerpoint/2010/main" val="1749679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1FBD1475-CAC0-4DD5-96BB-1F22B5E19FA7}"/>
              </a:ext>
            </a:extLst>
          </p:cNvPr>
          <p:cNvPicPr>
            <a:picLocks noGrp="1" noChangeAspect="1"/>
          </p:cNvPicPr>
          <p:nvPr>
            <p:ph idx="1"/>
          </p:nvPr>
        </p:nvPicPr>
        <p:blipFill>
          <a:blip r:embed="rId2"/>
          <a:stretch>
            <a:fillRect/>
          </a:stretch>
        </p:blipFill>
        <p:spPr>
          <a:xfrm>
            <a:off x="414218" y="3065276"/>
            <a:ext cx="5103023" cy="3541712"/>
          </a:xfrm>
        </p:spPr>
      </p:pic>
      <p:sp>
        <p:nvSpPr>
          <p:cNvPr id="8" name="CuadroTexto 7">
            <a:extLst>
              <a:ext uri="{FF2B5EF4-FFF2-40B4-BE49-F238E27FC236}">
                <a16:creationId xmlns:a16="http://schemas.microsoft.com/office/drawing/2014/main" id="{0773F260-8E7C-4A40-A9EE-71D6EED927AE}"/>
              </a:ext>
            </a:extLst>
          </p:cNvPr>
          <p:cNvSpPr txBox="1"/>
          <p:nvPr/>
        </p:nvSpPr>
        <p:spPr>
          <a:xfrm>
            <a:off x="4688542" y="98556"/>
            <a:ext cx="2286000" cy="923330"/>
          </a:xfrm>
          <a:prstGeom prst="rect">
            <a:avLst/>
          </a:prstGeom>
          <a:noFill/>
        </p:spPr>
        <p:txBody>
          <a:bodyPr wrap="square" rtlCol="0">
            <a:spAutoFit/>
          </a:bodyPr>
          <a:lstStyle/>
          <a:p>
            <a:r>
              <a:rPr lang="es-ES" dirty="0"/>
              <a:t>Obtiene el elemento al inicio de la cola con </a:t>
            </a:r>
            <a:r>
              <a:rPr lang="es-ES" dirty="0" err="1"/>
              <a:t>cola.dequeue</a:t>
            </a:r>
            <a:r>
              <a:rPr lang="es-ES" dirty="0"/>
              <a:t>.</a:t>
            </a:r>
            <a:endParaRPr lang="es-MX" dirty="0"/>
          </a:p>
        </p:txBody>
      </p:sp>
      <p:sp>
        <p:nvSpPr>
          <p:cNvPr id="11" name="CuadroTexto 10">
            <a:extLst>
              <a:ext uri="{FF2B5EF4-FFF2-40B4-BE49-F238E27FC236}">
                <a16:creationId xmlns:a16="http://schemas.microsoft.com/office/drawing/2014/main" id="{2C89D621-4CF5-459A-B8E0-2FF840C6ADD0}"/>
              </a:ext>
            </a:extLst>
          </p:cNvPr>
          <p:cNvSpPr txBox="1"/>
          <p:nvPr/>
        </p:nvSpPr>
        <p:spPr>
          <a:xfrm>
            <a:off x="6490445" y="750778"/>
            <a:ext cx="3209367" cy="646331"/>
          </a:xfrm>
          <a:prstGeom prst="rect">
            <a:avLst/>
          </a:prstGeom>
          <a:noFill/>
        </p:spPr>
        <p:txBody>
          <a:bodyPr wrap="square" rtlCol="0">
            <a:spAutoFit/>
          </a:bodyPr>
          <a:lstStyle/>
          <a:p>
            <a:r>
              <a:rPr lang="es-MX" dirty="0"/>
              <a:t>Verifica si la cola estaba vacía y muestra un mensaje.</a:t>
            </a:r>
          </a:p>
        </p:txBody>
      </p:sp>
      <p:cxnSp>
        <p:nvCxnSpPr>
          <p:cNvPr id="13" name="Conector recto de flecha 12">
            <a:extLst>
              <a:ext uri="{FF2B5EF4-FFF2-40B4-BE49-F238E27FC236}">
                <a16:creationId xmlns:a16="http://schemas.microsoft.com/office/drawing/2014/main" id="{BC42EFB8-02A7-4E2D-A76A-E5EC846F6AEA}"/>
              </a:ext>
            </a:extLst>
          </p:cNvPr>
          <p:cNvCxnSpPr>
            <a:cxnSpLocks/>
          </p:cNvCxnSpPr>
          <p:nvPr/>
        </p:nvCxnSpPr>
        <p:spPr>
          <a:xfrm flipV="1">
            <a:off x="4580965" y="2213629"/>
            <a:ext cx="1909480" cy="205357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CuadroTexto 13">
            <a:extLst>
              <a:ext uri="{FF2B5EF4-FFF2-40B4-BE49-F238E27FC236}">
                <a16:creationId xmlns:a16="http://schemas.microsoft.com/office/drawing/2014/main" id="{BE895D6A-B85F-4B0D-BD6C-DEC6222B528B}"/>
              </a:ext>
            </a:extLst>
          </p:cNvPr>
          <p:cNvSpPr txBox="1"/>
          <p:nvPr/>
        </p:nvSpPr>
        <p:spPr>
          <a:xfrm>
            <a:off x="6432173" y="1479086"/>
            <a:ext cx="4007223" cy="923330"/>
          </a:xfrm>
          <a:prstGeom prst="rect">
            <a:avLst/>
          </a:prstGeom>
          <a:noFill/>
        </p:spPr>
        <p:txBody>
          <a:bodyPr wrap="square" rtlCol="0">
            <a:spAutoFit/>
          </a:bodyPr>
          <a:lstStyle/>
          <a:p>
            <a:r>
              <a:rPr lang="es-ES" dirty="0"/>
              <a:t>Sirve para </a:t>
            </a:r>
            <a:r>
              <a:rPr lang="es-ES" u="none" strike="noStrike" dirty="0">
                <a:effectLst/>
                <a:latin typeface="Google Sans"/>
              </a:rPr>
              <a:t>ver el elemento que está al frente</a:t>
            </a:r>
            <a:r>
              <a:rPr lang="es-ES" dirty="0"/>
              <a:t> de la cola sin eliminarlo. Muestra el resultado en el campo de texto.</a:t>
            </a:r>
            <a:endParaRPr lang="es-MX" dirty="0"/>
          </a:p>
        </p:txBody>
      </p:sp>
      <p:cxnSp>
        <p:nvCxnSpPr>
          <p:cNvPr id="16" name="Conector recto de flecha 15">
            <a:extLst>
              <a:ext uri="{FF2B5EF4-FFF2-40B4-BE49-F238E27FC236}">
                <a16:creationId xmlns:a16="http://schemas.microsoft.com/office/drawing/2014/main" id="{8D756A85-6DA2-406C-87C1-E3DFA5629393}"/>
              </a:ext>
            </a:extLst>
          </p:cNvPr>
          <p:cNvCxnSpPr>
            <a:cxnSpLocks/>
            <a:endCxn id="17" idx="1"/>
          </p:cNvCxnSpPr>
          <p:nvPr/>
        </p:nvCxnSpPr>
        <p:spPr>
          <a:xfrm flipV="1">
            <a:off x="4150659" y="2778749"/>
            <a:ext cx="2464374" cy="162292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7" name="CuadroTexto 16">
            <a:extLst>
              <a:ext uri="{FF2B5EF4-FFF2-40B4-BE49-F238E27FC236}">
                <a16:creationId xmlns:a16="http://schemas.microsoft.com/office/drawing/2014/main" id="{BC514E1A-A17D-44BB-B50C-E43FB9416953}"/>
              </a:ext>
            </a:extLst>
          </p:cNvPr>
          <p:cNvSpPr txBox="1"/>
          <p:nvPr/>
        </p:nvSpPr>
        <p:spPr>
          <a:xfrm>
            <a:off x="6615033" y="2317084"/>
            <a:ext cx="4086065" cy="923330"/>
          </a:xfrm>
          <a:prstGeom prst="rect">
            <a:avLst/>
          </a:prstGeom>
          <a:noFill/>
        </p:spPr>
        <p:txBody>
          <a:bodyPr wrap="square" rtlCol="0">
            <a:spAutoFit/>
          </a:bodyPr>
          <a:lstStyle/>
          <a:p>
            <a:r>
              <a:rPr lang="es-ES" dirty="0"/>
              <a:t>Sirve para </a:t>
            </a:r>
            <a:r>
              <a:rPr lang="es-ES" u="none" strike="noStrike" dirty="0">
                <a:effectLst/>
                <a:latin typeface="Google Sans"/>
              </a:rPr>
              <a:t>visualizar todos los elementos</a:t>
            </a:r>
            <a:r>
              <a:rPr lang="es-ES" dirty="0"/>
              <a:t> que se encuentran actualmente guardados en la cola</a:t>
            </a:r>
            <a:endParaRPr lang="es-MX" dirty="0"/>
          </a:p>
        </p:txBody>
      </p:sp>
      <p:cxnSp>
        <p:nvCxnSpPr>
          <p:cNvPr id="19" name="Conector recto de flecha 18">
            <a:extLst>
              <a:ext uri="{FF2B5EF4-FFF2-40B4-BE49-F238E27FC236}">
                <a16:creationId xmlns:a16="http://schemas.microsoft.com/office/drawing/2014/main" id="{A318D0A1-EE55-4E3C-AE85-03ECBDCCA673}"/>
              </a:ext>
            </a:extLst>
          </p:cNvPr>
          <p:cNvCxnSpPr>
            <a:cxnSpLocks/>
            <a:endCxn id="20" idx="1"/>
          </p:cNvCxnSpPr>
          <p:nvPr/>
        </p:nvCxnSpPr>
        <p:spPr>
          <a:xfrm flipV="1">
            <a:off x="5047129" y="3458517"/>
            <a:ext cx="1443316" cy="106866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0" name="CuadroTexto 19">
            <a:extLst>
              <a:ext uri="{FF2B5EF4-FFF2-40B4-BE49-F238E27FC236}">
                <a16:creationId xmlns:a16="http://schemas.microsoft.com/office/drawing/2014/main" id="{C3C61E22-B328-427F-AC97-944B1CB634B1}"/>
              </a:ext>
            </a:extLst>
          </p:cNvPr>
          <p:cNvSpPr txBox="1"/>
          <p:nvPr/>
        </p:nvSpPr>
        <p:spPr>
          <a:xfrm>
            <a:off x="6490445" y="3135351"/>
            <a:ext cx="3801036" cy="646331"/>
          </a:xfrm>
          <a:prstGeom prst="rect">
            <a:avLst/>
          </a:prstGeom>
          <a:noFill/>
        </p:spPr>
        <p:txBody>
          <a:bodyPr wrap="square" rtlCol="0">
            <a:spAutoFit/>
          </a:bodyPr>
          <a:lstStyle/>
          <a:p>
            <a:pPr algn="just"/>
            <a:r>
              <a:rPr lang="es-ES" dirty="0"/>
              <a:t>Sirve para </a:t>
            </a:r>
            <a:r>
              <a:rPr lang="es-ES" u="none" strike="noStrike" dirty="0">
                <a:effectLst/>
                <a:latin typeface="Google Sans"/>
              </a:rPr>
              <a:t>saber cuántos elementos hay</a:t>
            </a:r>
            <a:r>
              <a:rPr lang="es-ES" dirty="0"/>
              <a:t> en total dentro de la cola.</a:t>
            </a:r>
            <a:endParaRPr lang="es-MX" dirty="0"/>
          </a:p>
        </p:txBody>
      </p:sp>
      <p:cxnSp>
        <p:nvCxnSpPr>
          <p:cNvPr id="22" name="Conector recto de flecha 21">
            <a:extLst>
              <a:ext uri="{FF2B5EF4-FFF2-40B4-BE49-F238E27FC236}">
                <a16:creationId xmlns:a16="http://schemas.microsoft.com/office/drawing/2014/main" id="{57B48A25-484C-4179-90EC-9FFC63DB1863}"/>
              </a:ext>
            </a:extLst>
          </p:cNvPr>
          <p:cNvCxnSpPr>
            <a:cxnSpLocks/>
            <a:endCxn id="23" idx="1"/>
          </p:cNvCxnSpPr>
          <p:nvPr/>
        </p:nvCxnSpPr>
        <p:spPr>
          <a:xfrm flipV="1">
            <a:off x="2339788" y="4267291"/>
            <a:ext cx="4124950" cy="71708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3" name="CuadroTexto 22">
            <a:extLst>
              <a:ext uri="{FF2B5EF4-FFF2-40B4-BE49-F238E27FC236}">
                <a16:creationId xmlns:a16="http://schemas.microsoft.com/office/drawing/2014/main" id="{09F3E1C1-0302-4F0F-ADF7-83AE785BF8BD}"/>
              </a:ext>
            </a:extLst>
          </p:cNvPr>
          <p:cNvSpPr txBox="1"/>
          <p:nvPr/>
        </p:nvSpPr>
        <p:spPr>
          <a:xfrm>
            <a:off x="6464738" y="3944125"/>
            <a:ext cx="3711388" cy="646331"/>
          </a:xfrm>
          <a:prstGeom prst="rect">
            <a:avLst/>
          </a:prstGeom>
          <a:noFill/>
        </p:spPr>
        <p:txBody>
          <a:bodyPr wrap="square" rtlCol="0">
            <a:spAutoFit/>
          </a:bodyPr>
          <a:lstStyle/>
          <a:p>
            <a:r>
              <a:rPr lang="es-ES" dirty="0"/>
              <a:t>Sirve para volver al menú principal de la aplicación cambiando de ventana.</a:t>
            </a:r>
            <a:endParaRPr lang="es-MX" dirty="0"/>
          </a:p>
        </p:txBody>
      </p:sp>
      <p:cxnSp>
        <p:nvCxnSpPr>
          <p:cNvPr id="33" name="Conector recto de flecha 32">
            <a:extLst>
              <a:ext uri="{FF2B5EF4-FFF2-40B4-BE49-F238E27FC236}">
                <a16:creationId xmlns:a16="http://schemas.microsoft.com/office/drawing/2014/main" id="{83C9C8DD-291A-43BF-8FD9-D216BCCF6917}"/>
              </a:ext>
            </a:extLst>
          </p:cNvPr>
          <p:cNvCxnSpPr/>
          <p:nvPr/>
        </p:nvCxnSpPr>
        <p:spPr>
          <a:xfrm flipV="1">
            <a:off x="5382846" y="4836132"/>
            <a:ext cx="1049327" cy="46200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4" name="CuadroTexto 33">
            <a:extLst>
              <a:ext uri="{FF2B5EF4-FFF2-40B4-BE49-F238E27FC236}">
                <a16:creationId xmlns:a16="http://schemas.microsoft.com/office/drawing/2014/main" id="{1D30898F-73D2-4C85-8F99-0378F8CA693E}"/>
              </a:ext>
            </a:extLst>
          </p:cNvPr>
          <p:cNvSpPr txBox="1"/>
          <p:nvPr/>
        </p:nvSpPr>
        <p:spPr>
          <a:xfrm>
            <a:off x="6544235" y="4660441"/>
            <a:ext cx="3711388" cy="369332"/>
          </a:xfrm>
          <a:prstGeom prst="rect">
            <a:avLst/>
          </a:prstGeom>
          <a:noFill/>
        </p:spPr>
        <p:txBody>
          <a:bodyPr wrap="square" rtlCol="0">
            <a:spAutoFit/>
          </a:bodyPr>
          <a:lstStyle/>
          <a:p>
            <a:r>
              <a:rPr lang="es-ES" dirty="0"/>
              <a:t>Primero busca en la ruta absoluta.</a:t>
            </a:r>
            <a:endParaRPr lang="es-MX" dirty="0"/>
          </a:p>
        </p:txBody>
      </p:sp>
      <p:cxnSp>
        <p:nvCxnSpPr>
          <p:cNvPr id="36" name="Conector recto de flecha 35">
            <a:extLst>
              <a:ext uri="{FF2B5EF4-FFF2-40B4-BE49-F238E27FC236}">
                <a16:creationId xmlns:a16="http://schemas.microsoft.com/office/drawing/2014/main" id="{61039520-00A2-4840-92E8-3A0F70E86DC9}"/>
              </a:ext>
            </a:extLst>
          </p:cNvPr>
          <p:cNvCxnSpPr>
            <a:cxnSpLocks/>
            <a:endCxn id="40" idx="1"/>
          </p:cNvCxnSpPr>
          <p:nvPr/>
        </p:nvCxnSpPr>
        <p:spPr>
          <a:xfrm flipV="1">
            <a:off x="3621741" y="5273106"/>
            <a:ext cx="2922494" cy="3656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Rectangle 3">
            <a:extLst>
              <a:ext uri="{FF2B5EF4-FFF2-40B4-BE49-F238E27FC236}">
                <a16:creationId xmlns:a16="http://schemas.microsoft.com/office/drawing/2014/main" id="{8CA76271-E295-4E06-A55A-1593F31FE05A}"/>
              </a:ext>
            </a:extLst>
          </p:cNvPr>
          <p:cNvSpPr>
            <a:spLocks noChangeArrowheads="1"/>
          </p:cNvSpPr>
          <p:nvPr/>
        </p:nvSpPr>
        <p:spPr bwMode="auto">
          <a:xfrm>
            <a:off x="6544235" y="5134606"/>
            <a:ext cx="49216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800" b="0" i="0" u="none" strike="noStrike" cap="none" normalizeH="0" baseline="0" dirty="0">
                <a:ln>
                  <a:noFill/>
                </a:ln>
                <a:solidFill>
                  <a:schemeClr val="tx1"/>
                </a:solidFill>
                <a:effectLst/>
                <a:latin typeface="Arial" panose="020B0604020202020204" pitchFamily="34" charset="0"/>
              </a:rPr>
              <a:t>intenta buscarlo en la carpeta local: </a:t>
            </a:r>
            <a:r>
              <a:rPr kumimoji="0" lang="es-MX" altLang="es-MX" sz="1600" b="0" i="0" u="none" strike="noStrike" cap="none" normalizeH="0" baseline="0" dirty="0" err="1">
                <a:ln>
                  <a:noFill/>
                </a:ln>
                <a:solidFill>
                  <a:schemeClr val="tx1"/>
                </a:solidFill>
                <a:effectLst/>
                <a:latin typeface="+mj-lt"/>
              </a:rPr>
              <a:t>menu-view.fxml</a:t>
            </a:r>
            <a:r>
              <a:rPr kumimoji="0" lang="es-MX" altLang="es-MX" sz="1200" b="0" i="0" u="none" strike="noStrike" cap="none" normalizeH="0" baseline="0" dirty="0">
                <a:ln>
                  <a:noFill/>
                </a:ln>
                <a:solidFill>
                  <a:schemeClr val="tx1"/>
                </a:solidFill>
                <a:effectLst/>
                <a:latin typeface="+mj-lt"/>
              </a:rPr>
              <a:t>. </a:t>
            </a:r>
            <a:endParaRPr kumimoji="0" lang="es-MX" altLang="es-MX" sz="1800" b="0" i="0" u="none" strike="noStrike" cap="none" normalizeH="0" baseline="0" dirty="0">
              <a:ln>
                <a:noFill/>
              </a:ln>
              <a:solidFill>
                <a:schemeClr val="tx1"/>
              </a:solidFill>
              <a:effectLst/>
              <a:latin typeface="+mj-lt"/>
            </a:endParaRPr>
          </a:p>
        </p:txBody>
      </p:sp>
      <p:cxnSp>
        <p:nvCxnSpPr>
          <p:cNvPr id="43" name="Conector recto de flecha 42">
            <a:extLst>
              <a:ext uri="{FF2B5EF4-FFF2-40B4-BE49-F238E27FC236}">
                <a16:creationId xmlns:a16="http://schemas.microsoft.com/office/drawing/2014/main" id="{56F6135A-D064-4A0D-AB04-496ECAF02ACF}"/>
              </a:ext>
            </a:extLst>
          </p:cNvPr>
          <p:cNvCxnSpPr>
            <a:endCxn id="40" idx="1"/>
          </p:cNvCxnSpPr>
          <p:nvPr/>
        </p:nvCxnSpPr>
        <p:spPr>
          <a:xfrm flipV="1">
            <a:off x="3621741" y="5273106"/>
            <a:ext cx="2922494" cy="8318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de flecha 44">
            <a:extLst>
              <a:ext uri="{FF2B5EF4-FFF2-40B4-BE49-F238E27FC236}">
                <a16:creationId xmlns:a16="http://schemas.microsoft.com/office/drawing/2014/main" id="{81CCB5AF-BEDF-453B-8EA5-141B07340448}"/>
              </a:ext>
            </a:extLst>
          </p:cNvPr>
          <p:cNvCxnSpPr>
            <a:endCxn id="40" idx="1"/>
          </p:cNvCxnSpPr>
          <p:nvPr/>
        </p:nvCxnSpPr>
        <p:spPr>
          <a:xfrm flipV="1">
            <a:off x="4052047" y="5273106"/>
            <a:ext cx="2492188" cy="1259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7" name="Imagen 46">
            <a:extLst>
              <a:ext uri="{FF2B5EF4-FFF2-40B4-BE49-F238E27FC236}">
                <a16:creationId xmlns:a16="http://schemas.microsoft.com/office/drawing/2014/main" id="{7AD40895-69FE-41DF-A3F6-6017CBD7BA4E}"/>
              </a:ext>
            </a:extLst>
          </p:cNvPr>
          <p:cNvPicPr>
            <a:picLocks noChangeAspect="1"/>
          </p:cNvPicPr>
          <p:nvPr/>
        </p:nvPicPr>
        <p:blipFill>
          <a:blip r:embed="rId3"/>
          <a:stretch>
            <a:fillRect/>
          </a:stretch>
        </p:blipFill>
        <p:spPr>
          <a:xfrm>
            <a:off x="0" y="0"/>
            <a:ext cx="4347882" cy="2563253"/>
          </a:xfrm>
          <a:prstGeom prst="rect">
            <a:avLst/>
          </a:prstGeom>
        </p:spPr>
      </p:pic>
      <p:cxnSp>
        <p:nvCxnSpPr>
          <p:cNvPr id="7" name="Conector recto de flecha 6">
            <a:extLst>
              <a:ext uri="{FF2B5EF4-FFF2-40B4-BE49-F238E27FC236}">
                <a16:creationId xmlns:a16="http://schemas.microsoft.com/office/drawing/2014/main" id="{048DC713-F27A-469D-B887-7B40311A5814}"/>
              </a:ext>
            </a:extLst>
          </p:cNvPr>
          <p:cNvCxnSpPr>
            <a:cxnSpLocks/>
            <a:endCxn id="8" idx="2"/>
          </p:cNvCxnSpPr>
          <p:nvPr/>
        </p:nvCxnSpPr>
        <p:spPr>
          <a:xfrm flipV="1">
            <a:off x="2232212" y="1021886"/>
            <a:ext cx="3599330" cy="240711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 name="Conector recto de flecha 9">
            <a:extLst>
              <a:ext uri="{FF2B5EF4-FFF2-40B4-BE49-F238E27FC236}">
                <a16:creationId xmlns:a16="http://schemas.microsoft.com/office/drawing/2014/main" id="{92DDA2DD-19B3-412B-A30B-7FF6E8225DF8}"/>
              </a:ext>
            </a:extLst>
          </p:cNvPr>
          <p:cNvCxnSpPr>
            <a:cxnSpLocks/>
          </p:cNvCxnSpPr>
          <p:nvPr/>
        </p:nvCxnSpPr>
        <p:spPr>
          <a:xfrm flipV="1">
            <a:off x="2420471" y="1216977"/>
            <a:ext cx="4123764" cy="228822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09246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DB8424-C41D-4FE9-BC90-23946BA7F225}"/>
              </a:ext>
            </a:extLst>
          </p:cNvPr>
          <p:cNvSpPr>
            <a:spLocks noGrp="1"/>
          </p:cNvSpPr>
          <p:nvPr>
            <p:ph type="title"/>
          </p:nvPr>
        </p:nvSpPr>
        <p:spPr/>
        <p:txBody>
          <a:bodyPr/>
          <a:lstStyle/>
          <a:p>
            <a:r>
              <a:rPr lang="es-ES" dirty="0"/>
              <a:t>Lista controller</a:t>
            </a:r>
            <a:endParaRPr lang="es-MX" dirty="0"/>
          </a:p>
        </p:txBody>
      </p:sp>
      <p:pic>
        <p:nvPicPr>
          <p:cNvPr id="5" name="Marcador de contenido 4">
            <a:extLst>
              <a:ext uri="{FF2B5EF4-FFF2-40B4-BE49-F238E27FC236}">
                <a16:creationId xmlns:a16="http://schemas.microsoft.com/office/drawing/2014/main" id="{6BA3D324-1FB5-45F8-B2D6-5BB4544D0CBD}"/>
              </a:ext>
            </a:extLst>
          </p:cNvPr>
          <p:cNvPicPr>
            <a:picLocks noGrp="1" noChangeAspect="1"/>
          </p:cNvPicPr>
          <p:nvPr>
            <p:ph idx="1"/>
          </p:nvPr>
        </p:nvPicPr>
        <p:blipFill>
          <a:blip r:embed="rId2"/>
          <a:stretch>
            <a:fillRect/>
          </a:stretch>
        </p:blipFill>
        <p:spPr>
          <a:xfrm>
            <a:off x="82516" y="3217676"/>
            <a:ext cx="6913912" cy="3541712"/>
          </a:xfrm>
        </p:spPr>
      </p:pic>
      <p:cxnSp>
        <p:nvCxnSpPr>
          <p:cNvPr id="7" name="Conector recto de flecha 6">
            <a:extLst>
              <a:ext uri="{FF2B5EF4-FFF2-40B4-BE49-F238E27FC236}">
                <a16:creationId xmlns:a16="http://schemas.microsoft.com/office/drawing/2014/main" id="{DD1146AB-627A-4E1F-B02F-117F32405D7D}"/>
              </a:ext>
            </a:extLst>
          </p:cNvPr>
          <p:cNvCxnSpPr/>
          <p:nvPr/>
        </p:nvCxnSpPr>
        <p:spPr>
          <a:xfrm flipH="1" flipV="1">
            <a:off x="2286000" y="2931459"/>
            <a:ext cx="430306" cy="71717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 name="CuadroTexto 7">
            <a:extLst>
              <a:ext uri="{FF2B5EF4-FFF2-40B4-BE49-F238E27FC236}">
                <a16:creationId xmlns:a16="http://schemas.microsoft.com/office/drawing/2014/main" id="{9C4B6C6A-9599-4F36-860A-FF0E53BC9C61}"/>
              </a:ext>
            </a:extLst>
          </p:cNvPr>
          <p:cNvSpPr txBox="1"/>
          <p:nvPr/>
        </p:nvSpPr>
        <p:spPr>
          <a:xfrm>
            <a:off x="788894" y="2097088"/>
            <a:ext cx="2904565" cy="923330"/>
          </a:xfrm>
          <a:prstGeom prst="rect">
            <a:avLst/>
          </a:prstGeom>
          <a:noFill/>
        </p:spPr>
        <p:txBody>
          <a:bodyPr wrap="square" rtlCol="0">
            <a:spAutoFit/>
          </a:bodyPr>
          <a:lstStyle/>
          <a:p>
            <a:pPr algn="just"/>
            <a:r>
              <a:rPr lang="es-ES" dirty="0"/>
              <a:t>Define la ubicación de este archivo dentro de la estructura del proyecto.</a:t>
            </a:r>
            <a:endParaRPr lang="es-MX" dirty="0"/>
          </a:p>
        </p:txBody>
      </p:sp>
      <p:sp>
        <p:nvSpPr>
          <p:cNvPr id="9" name="Cerrar llave 8">
            <a:extLst>
              <a:ext uri="{FF2B5EF4-FFF2-40B4-BE49-F238E27FC236}">
                <a16:creationId xmlns:a16="http://schemas.microsoft.com/office/drawing/2014/main" id="{A8940320-42C2-4FCF-BB98-A5EB1C150025}"/>
              </a:ext>
            </a:extLst>
          </p:cNvPr>
          <p:cNvSpPr/>
          <p:nvPr/>
        </p:nvSpPr>
        <p:spPr>
          <a:xfrm>
            <a:off x="4464424" y="3747247"/>
            <a:ext cx="430306" cy="941294"/>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s-MX"/>
          </a:p>
        </p:txBody>
      </p:sp>
      <p:cxnSp>
        <p:nvCxnSpPr>
          <p:cNvPr id="11" name="Conector recto de flecha 10">
            <a:extLst>
              <a:ext uri="{FF2B5EF4-FFF2-40B4-BE49-F238E27FC236}">
                <a16:creationId xmlns:a16="http://schemas.microsoft.com/office/drawing/2014/main" id="{337C006C-9D14-47C4-837A-97A7E09D8597}"/>
              </a:ext>
            </a:extLst>
          </p:cNvPr>
          <p:cNvCxnSpPr>
            <a:stCxn id="9" idx="1"/>
          </p:cNvCxnSpPr>
          <p:nvPr/>
        </p:nvCxnSpPr>
        <p:spPr>
          <a:xfrm flipV="1">
            <a:off x="4894730" y="2770094"/>
            <a:ext cx="582705" cy="144780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2" name="CuadroTexto 11">
            <a:extLst>
              <a:ext uri="{FF2B5EF4-FFF2-40B4-BE49-F238E27FC236}">
                <a16:creationId xmlns:a16="http://schemas.microsoft.com/office/drawing/2014/main" id="{9730F039-6A4C-4658-82BE-AC96A6B4FCB4}"/>
              </a:ext>
            </a:extLst>
          </p:cNvPr>
          <p:cNvSpPr txBox="1"/>
          <p:nvPr/>
        </p:nvSpPr>
        <p:spPr>
          <a:xfrm>
            <a:off x="4536141" y="2008094"/>
            <a:ext cx="2832847" cy="923330"/>
          </a:xfrm>
          <a:prstGeom prst="rect">
            <a:avLst/>
          </a:prstGeom>
          <a:noFill/>
        </p:spPr>
        <p:txBody>
          <a:bodyPr wrap="square" rtlCol="0">
            <a:spAutoFit/>
          </a:bodyPr>
          <a:lstStyle/>
          <a:p>
            <a:r>
              <a:rPr lang="es-ES" dirty="0"/>
              <a:t>Importa las clases y herramientas que se usan de SceneBuilder.</a:t>
            </a:r>
            <a:endParaRPr lang="es-MX" dirty="0"/>
          </a:p>
        </p:txBody>
      </p:sp>
      <p:sp>
        <p:nvSpPr>
          <p:cNvPr id="13" name="Cerrar llave 12">
            <a:extLst>
              <a:ext uri="{FF2B5EF4-FFF2-40B4-BE49-F238E27FC236}">
                <a16:creationId xmlns:a16="http://schemas.microsoft.com/office/drawing/2014/main" id="{5DF178E9-7AFB-4EFF-A5AB-0FE1DC44BA1C}"/>
              </a:ext>
            </a:extLst>
          </p:cNvPr>
          <p:cNvSpPr/>
          <p:nvPr/>
        </p:nvSpPr>
        <p:spPr>
          <a:xfrm>
            <a:off x="4536141" y="4769224"/>
            <a:ext cx="358589" cy="726141"/>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s-MX"/>
          </a:p>
        </p:txBody>
      </p:sp>
      <p:cxnSp>
        <p:nvCxnSpPr>
          <p:cNvPr id="15" name="Conector recto de flecha 14">
            <a:extLst>
              <a:ext uri="{FF2B5EF4-FFF2-40B4-BE49-F238E27FC236}">
                <a16:creationId xmlns:a16="http://schemas.microsoft.com/office/drawing/2014/main" id="{B1861D50-4042-4522-83D6-F1D9C6EAB3DF}"/>
              </a:ext>
            </a:extLst>
          </p:cNvPr>
          <p:cNvCxnSpPr>
            <a:cxnSpLocks/>
          </p:cNvCxnSpPr>
          <p:nvPr/>
        </p:nvCxnSpPr>
        <p:spPr>
          <a:xfrm flipV="1">
            <a:off x="4966447" y="3864665"/>
            <a:ext cx="2474258" cy="126762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8" name="Rectangle 1">
            <a:extLst>
              <a:ext uri="{FF2B5EF4-FFF2-40B4-BE49-F238E27FC236}">
                <a16:creationId xmlns:a16="http://schemas.microsoft.com/office/drawing/2014/main" id="{DF7CB8C4-00DD-46E4-AFAE-C68588BFD227}"/>
              </a:ext>
            </a:extLst>
          </p:cNvPr>
          <p:cNvSpPr>
            <a:spLocks noChangeArrowheads="1"/>
          </p:cNvSpPr>
          <p:nvPr/>
        </p:nvSpPr>
        <p:spPr bwMode="auto">
          <a:xfrm>
            <a:off x="7426734" y="3190804"/>
            <a:ext cx="3336982"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800" b="0" i="0" u="none" strike="noStrike" cap="none" normalizeH="0" baseline="0" dirty="0">
                <a:ln>
                  <a:noFill/>
                </a:ln>
                <a:solidFill>
                  <a:schemeClr val="tx1"/>
                </a:solidFill>
                <a:effectLst/>
                <a:latin typeface="Arial" panose="020B0604020202020204" pitchFamily="34" charset="0"/>
              </a:rPr>
              <a:t>Estas variables </a:t>
            </a:r>
            <a:r>
              <a:rPr kumimoji="0" lang="es-MX" altLang="es-MX" sz="1800" b="0" i="0" u="none" strike="noStrike" cap="none" normalizeH="0" baseline="0" dirty="0" err="1">
                <a:ln>
                  <a:noFill/>
                </a:ln>
                <a:solidFill>
                  <a:schemeClr val="tx1"/>
                </a:solidFill>
                <a:effectLst/>
                <a:latin typeface="Arial" panose="020B0604020202020204" pitchFamily="34" charset="0"/>
              </a:rPr>
              <a:t>fxml</a:t>
            </a:r>
            <a:r>
              <a:rPr kumimoji="0" lang="es-MX" altLang="es-MX" sz="1800" b="0" i="0" u="none" strike="noStrike" cap="none" normalizeH="0" baseline="0" dirty="0">
                <a:ln>
                  <a:noFill/>
                </a:ln>
                <a:solidFill>
                  <a:schemeClr val="tx1"/>
                </a:solidFill>
                <a:effectLst/>
                <a:latin typeface="Arial" panose="020B0604020202020204" pitchFamily="34" charset="0"/>
              </a:rPr>
              <a:t> se enlazan directamente con los elementos visuales del archivo </a:t>
            </a:r>
            <a:r>
              <a:rPr kumimoji="0" lang="es-MX" altLang="es-MX" b="0" i="0" u="none" strike="noStrike" cap="none" normalizeH="0" baseline="0" dirty="0">
                <a:ln>
                  <a:noFill/>
                </a:ln>
                <a:solidFill>
                  <a:schemeClr val="tx1"/>
                </a:solidFill>
                <a:effectLst/>
              </a:rPr>
              <a:t>lista-</a:t>
            </a:r>
            <a:r>
              <a:rPr kumimoji="0" lang="es-MX" altLang="es-MX" b="0" i="0" u="none" strike="noStrike" cap="none" normalizeH="0" baseline="0" dirty="0" err="1">
                <a:ln>
                  <a:noFill/>
                </a:ln>
                <a:solidFill>
                  <a:schemeClr val="tx1"/>
                </a:solidFill>
                <a:effectLst/>
              </a:rPr>
              <a:t>view.fxml</a:t>
            </a:r>
            <a:r>
              <a:rPr kumimoji="0" lang="es-MX" altLang="es-MX" sz="1400" b="0" i="0" u="none" strike="noStrike" cap="none" normalizeH="0" baseline="0" dirty="0">
                <a:ln>
                  <a:noFill/>
                </a:ln>
                <a:solidFill>
                  <a:schemeClr val="tx1"/>
                </a:solidFill>
                <a:effectLst/>
              </a:rPr>
              <a:t> </a:t>
            </a:r>
            <a:endParaRPr kumimoji="0" lang="es-MX" altLang="es-MX" sz="1800" b="0" i="0" u="none" strike="noStrike" cap="none" normalizeH="0" baseline="0" dirty="0">
              <a:ln>
                <a:noFill/>
              </a:ln>
              <a:solidFill>
                <a:schemeClr val="tx1"/>
              </a:solidFill>
              <a:effectLst/>
            </a:endParaRPr>
          </a:p>
        </p:txBody>
      </p:sp>
      <p:cxnSp>
        <p:nvCxnSpPr>
          <p:cNvPr id="21" name="Conector recto de flecha 20">
            <a:extLst>
              <a:ext uri="{FF2B5EF4-FFF2-40B4-BE49-F238E27FC236}">
                <a16:creationId xmlns:a16="http://schemas.microsoft.com/office/drawing/2014/main" id="{E8224548-998E-4379-895E-4E46C2DBE914}"/>
              </a:ext>
            </a:extLst>
          </p:cNvPr>
          <p:cNvCxnSpPr/>
          <p:nvPr/>
        </p:nvCxnSpPr>
        <p:spPr>
          <a:xfrm flipV="1">
            <a:off x="3980329" y="5414682"/>
            <a:ext cx="3316942" cy="27790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2" name="CuadroTexto 21">
            <a:extLst>
              <a:ext uri="{FF2B5EF4-FFF2-40B4-BE49-F238E27FC236}">
                <a16:creationId xmlns:a16="http://schemas.microsoft.com/office/drawing/2014/main" id="{7DD86AA4-1C7C-4227-A258-F20D626CC022}"/>
              </a:ext>
            </a:extLst>
          </p:cNvPr>
          <p:cNvSpPr txBox="1"/>
          <p:nvPr/>
        </p:nvSpPr>
        <p:spPr>
          <a:xfrm>
            <a:off x="7368988" y="4988532"/>
            <a:ext cx="2232212" cy="923330"/>
          </a:xfrm>
          <a:prstGeom prst="rect">
            <a:avLst/>
          </a:prstGeom>
          <a:noFill/>
        </p:spPr>
        <p:txBody>
          <a:bodyPr wrap="square" rtlCol="0">
            <a:spAutoFit/>
          </a:bodyPr>
          <a:lstStyle/>
          <a:p>
            <a:r>
              <a:rPr lang="es-ES" dirty="0"/>
              <a:t>Sirve para insertar nuevo elemento en la celda</a:t>
            </a:r>
            <a:endParaRPr lang="es-MX" dirty="0"/>
          </a:p>
        </p:txBody>
      </p:sp>
      <p:sp>
        <p:nvSpPr>
          <p:cNvPr id="23" name="CuadroTexto 22">
            <a:extLst>
              <a:ext uri="{FF2B5EF4-FFF2-40B4-BE49-F238E27FC236}">
                <a16:creationId xmlns:a16="http://schemas.microsoft.com/office/drawing/2014/main" id="{24E4E486-06A2-446A-A3CF-F63F4B02112F}"/>
              </a:ext>
            </a:extLst>
          </p:cNvPr>
          <p:cNvSpPr txBox="1"/>
          <p:nvPr/>
        </p:nvSpPr>
        <p:spPr>
          <a:xfrm>
            <a:off x="8086165" y="286871"/>
            <a:ext cx="3576917" cy="923330"/>
          </a:xfrm>
          <a:prstGeom prst="rect">
            <a:avLst/>
          </a:prstGeom>
          <a:noFill/>
        </p:spPr>
        <p:txBody>
          <a:bodyPr wrap="square" rtlCol="0">
            <a:spAutoFit/>
          </a:bodyPr>
          <a:lstStyle/>
          <a:p>
            <a:pPr algn="just"/>
            <a:r>
              <a:rPr lang="es-ES" dirty="0"/>
              <a:t>Y con los demás es la misma explicación con anterior que se explico.</a:t>
            </a:r>
            <a:endParaRPr lang="es-MX" dirty="0"/>
          </a:p>
        </p:txBody>
      </p:sp>
    </p:spTree>
    <p:extLst>
      <p:ext uri="{BB962C8B-B14F-4D97-AF65-F5344CB8AC3E}">
        <p14:creationId xmlns:p14="http://schemas.microsoft.com/office/powerpoint/2010/main" val="503823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11418D-DFE9-49FB-AEC3-6E49F8E33E45}"/>
              </a:ext>
            </a:extLst>
          </p:cNvPr>
          <p:cNvSpPr>
            <a:spLocks noGrp="1"/>
          </p:cNvSpPr>
          <p:nvPr>
            <p:ph type="title"/>
          </p:nvPr>
        </p:nvSpPr>
        <p:spPr>
          <a:xfrm>
            <a:off x="1017495" y="511538"/>
            <a:ext cx="9905998" cy="1478570"/>
          </a:xfrm>
        </p:spPr>
        <p:txBody>
          <a:bodyPr/>
          <a:lstStyle/>
          <a:p>
            <a:r>
              <a:rPr lang="es-ES" dirty="0" err="1"/>
              <a:t>PILa</a:t>
            </a:r>
            <a:r>
              <a:rPr lang="es-ES" dirty="0"/>
              <a:t> controller </a:t>
            </a:r>
            <a:endParaRPr lang="es-MX" dirty="0"/>
          </a:p>
        </p:txBody>
      </p:sp>
      <p:pic>
        <p:nvPicPr>
          <p:cNvPr id="3074" name="Picture 2" descr="Imagen buscada visualmente">
            <a:extLst>
              <a:ext uri="{FF2B5EF4-FFF2-40B4-BE49-F238E27FC236}">
                <a16:creationId xmlns:a16="http://schemas.microsoft.com/office/drawing/2014/main" id="{06D173DB-F690-4C12-BCAA-42BABC85C0E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234" y="2770094"/>
            <a:ext cx="7425482" cy="3935506"/>
          </a:xfrm>
          <a:prstGeom prst="rect">
            <a:avLst/>
          </a:prstGeom>
          <a:noFill/>
          <a:extLst>
            <a:ext uri="{909E8E84-426E-40DD-AFC4-6F175D3DCCD1}">
              <a14:hiddenFill xmlns:a14="http://schemas.microsoft.com/office/drawing/2010/main">
                <a:solidFill>
                  <a:srgbClr val="FFFFFF"/>
                </a:solidFill>
              </a14:hiddenFill>
            </a:ext>
          </a:extLst>
        </p:spPr>
      </p:pic>
      <p:sp>
        <p:nvSpPr>
          <p:cNvPr id="5" name="Cerrar llave 4">
            <a:extLst>
              <a:ext uri="{FF2B5EF4-FFF2-40B4-BE49-F238E27FC236}">
                <a16:creationId xmlns:a16="http://schemas.microsoft.com/office/drawing/2014/main" id="{3F0D3286-49AD-46D6-BE22-95E61A77DB27}"/>
              </a:ext>
            </a:extLst>
          </p:cNvPr>
          <p:cNvSpPr/>
          <p:nvPr/>
        </p:nvSpPr>
        <p:spPr>
          <a:xfrm>
            <a:off x="4697506" y="4500282"/>
            <a:ext cx="663388" cy="636494"/>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s-MX"/>
          </a:p>
        </p:txBody>
      </p:sp>
      <p:cxnSp>
        <p:nvCxnSpPr>
          <p:cNvPr id="7" name="Conector recto de flecha 6">
            <a:extLst>
              <a:ext uri="{FF2B5EF4-FFF2-40B4-BE49-F238E27FC236}">
                <a16:creationId xmlns:a16="http://schemas.microsoft.com/office/drawing/2014/main" id="{7B49A828-6D92-491C-AC80-1948C215A560}"/>
              </a:ext>
            </a:extLst>
          </p:cNvPr>
          <p:cNvCxnSpPr>
            <a:stCxn id="5" idx="1"/>
          </p:cNvCxnSpPr>
          <p:nvPr/>
        </p:nvCxnSpPr>
        <p:spPr>
          <a:xfrm flipV="1">
            <a:off x="5360894" y="2501153"/>
            <a:ext cx="1219200" cy="231737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 name="CuadroTexto 7">
            <a:extLst>
              <a:ext uri="{FF2B5EF4-FFF2-40B4-BE49-F238E27FC236}">
                <a16:creationId xmlns:a16="http://schemas.microsoft.com/office/drawing/2014/main" id="{694B07C3-0C9D-4753-9BB7-DF1B226B1FBE}"/>
              </a:ext>
            </a:extLst>
          </p:cNvPr>
          <p:cNvSpPr txBox="1"/>
          <p:nvPr/>
        </p:nvSpPr>
        <p:spPr>
          <a:xfrm>
            <a:off x="5746376" y="1909482"/>
            <a:ext cx="2456330" cy="923330"/>
          </a:xfrm>
          <a:prstGeom prst="rect">
            <a:avLst/>
          </a:prstGeom>
          <a:noFill/>
        </p:spPr>
        <p:txBody>
          <a:bodyPr wrap="square" rtlCol="0">
            <a:spAutoFit/>
          </a:bodyPr>
          <a:lstStyle/>
          <a:p>
            <a:r>
              <a:rPr lang="es-ES" dirty="0"/>
              <a:t>Conecta la parte visual con SceneBuilder para el diseño.</a:t>
            </a:r>
            <a:endParaRPr lang="es-MX" dirty="0"/>
          </a:p>
        </p:txBody>
      </p:sp>
      <p:cxnSp>
        <p:nvCxnSpPr>
          <p:cNvPr id="10" name="Conector recto de flecha 9">
            <a:extLst>
              <a:ext uri="{FF2B5EF4-FFF2-40B4-BE49-F238E27FC236}">
                <a16:creationId xmlns:a16="http://schemas.microsoft.com/office/drawing/2014/main" id="{58CA93A0-6473-4C49-9055-40BC584ADA6D}"/>
              </a:ext>
            </a:extLst>
          </p:cNvPr>
          <p:cNvCxnSpPr/>
          <p:nvPr/>
        </p:nvCxnSpPr>
        <p:spPr>
          <a:xfrm flipV="1">
            <a:off x="4320988" y="2097088"/>
            <a:ext cx="4939553" cy="295004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2" name="Rectangle 3">
            <a:extLst>
              <a:ext uri="{FF2B5EF4-FFF2-40B4-BE49-F238E27FC236}">
                <a16:creationId xmlns:a16="http://schemas.microsoft.com/office/drawing/2014/main" id="{B5D280F0-B372-490C-8EDE-DCB4D904D32F}"/>
              </a:ext>
            </a:extLst>
          </p:cNvPr>
          <p:cNvSpPr>
            <a:spLocks noChangeArrowheads="1"/>
          </p:cNvSpPr>
          <p:nvPr/>
        </p:nvSpPr>
        <p:spPr bwMode="auto">
          <a:xfrm>
            <a:off x="9260541" y="715741"/>
            <a:ext cx="2277036" cy="2072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03136" rIns="0" bIns="20313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s-MX" altLang="es-MX" b="0" i="0" u="none" strike="noStrike" cap="none" normalizeH="0" baseline="0" dirty="0">
                <a:ln>
                  <a:noFill/>
                </a:ln>
                <a:solidFill>
                  <a:schemeClr val="tx1"/>
                </a:solidFill>
                <a:effectLst/>
                <a:latin typeface="+mj-lt"/>
              </a:rPr>
              <a:t>Instancia interna de la estructura de datos </a:t>
            </a:r>
            <a:r>
              <a:rPr kumimoji="0" lang="es-MX" altLang="es-MX" sz="1200" b="0" i="0" u="none" strike="noStrike" cap="none" normalizeH="0" baseline="0" dirty="0">
                <a:ln>
                  <a:noFill/>
                </a:ln>
                <a:solidFill>
                  <a:schemeClr val="tx1"/>
                </a:solidFill>
                <a:effectLst/>
                <a:latin typeface="+mj-lt"/>
                <a:cs typeface="Courier New" panose="02070309020205020404" pitchFamily="49" charset="0"/>
              </a:rPr>
              <a:t>Pila</a:t>
            </a:r>
            <a:r>
              <a:rPr kumimoji="0" lang="es-MX" altLang="es-MX" b="0" i="0" u="none" strike="noStrike" cap="none" normalizeH="0" baseline="0" dirty="0">
                <a:ln>
                  <a:noFill/>
                </a:ln>
                <a:solidFill>
                  <a:schemeClr val="tx1"/>
                </a:solidFill>
                <a:effectLst/>
                <a:latin typeface="+mj-lt"/>
              </a:rPr>
              <a:t> para almacenar los elementos.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cxnSp>
        <p:nvCxnSpPr>
          <p:cNvPr id="15" name="Conector recto de flecha 14">
            <a:extLst>
              <a:ext uri="{FF2B5EF4-FFF2-40B4-BE49-F238E27FC236}">
                <a16:creationId xmlns:a16="http://schemas.microsoft.com/office/drawing/2014/main" id="{BA5DE060-9DBA-455F-BFF6-0B32481C4751}"/>
              </a:ext>
            </a:extLst>
          </p:cNvPr>
          <p:cNvCxnSpPr/>
          <p:nvPr/>
        </p:nvCxnSpPr>
        <p:spPr>
          <a:xfrm flipV="1">
            <a:off x="4249271" y="4347882"/>
            <a:ext cx="3953435" cy="97715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6" name="CuadroTexto 15">
            <a:extLst>
              <a:ext uri="{FF2B5EF4-FFF2-40B4-BE49-F238E27FC236}">
                <a16:creationId xmlns:a16="http://schemas.microsoft.com/office/drawing/2014/main" id="{D61647C1-AEED-49A9-8D49-E7A0DE7FD52D}"/>
              </a:ext>
            </a:extLst>
          </p:cNvPr>
          <p:cNvSpPr txBox="1"/>
          <p:nvPr/>
        </p:nvSpPr>
        <p:spPr>
          <a:xfrm>
            <a:off x="8107809" y="3702879"/>
            <a:ext cx="2823882" cy="1200329"/>
          </a:xfrm>
          <a:prstGeom prst="rect">
            <a:avLst/>
          </a:prstGeom>
          <a:noFill/>
        </p:spPr>
        <p:txBody>
          <a:bodyPr wrap="square" rtlCol="0">
            <a:spAutoFit/>
          </a:bodyPr>
          <a:lstStyle/>
          <a:p>
            <a:pPr algn="just"/>
            <a:r>
              <a:rPr lang="es-ES" u="none" strike="noStrike" dirty="0">
                <a:effectLst/>
                <a:latin typeface="Google Sans"/>
              </a:rPr>
              <a:t>Sirve para agregar (apilar) un elemento en la parte superior de la pila.</a:t>
            </a:r>
          </a:p>
          <a:p>
            <a:endParaRPr lang="es-MX" dirty="0"/>
          </a:p>
        </p:txBody>
      </p:sp>
    </p:spTree>
    <p:extLst>
      <p:ext uri="{BB962C8B-B14F-4D97-AF65-F5344CB8AC3E}">
        <p14:creationId xmlns:p14="http://schemas.microsoft.com/office/powerpoint/2010/main" val="211023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28B244-1114-4400-91C0-13F61D9E7124}"/>
              </a:ext>
            </a:extLst>
          </p:cNvPr>
          <p:cNvSpPr>
            <a:spLocks noGrp="1"/>
          </p:cNvSpPr>
          <p:nvPr>
            <p:ph type="title"/>
          </p:nvPr>
        </p:nvSpPr>
        <p:spPr/>
        <p:txBody>
          <a:bodyPr/>
          <a:lstStyle/>
          <a:p>
            <a:r>
              <a:rPr lang="es-ES" dirty="0"/>
              <a:t>Menú controller</a:t>
            </a:r>
            <a:endParaRPr lang="es-MX" dirty="0"/>
          </a:p>
        </p:txBody>
      </p:sp>
      <p:pic>
        <p:nvPicPr>
          <p:cNvPr id="5" name="Marcador de contenido 4">
            <a:extLst>
              <a:ext uri="{FF2B5EF4-FFF2-40B4-BE49-F238E27FC236}">
                <a16:creationId xmlns:a16="http://schemas.microsoft.com/office/drawing/2014/main" id="{C497B9F8-D1C6-4FF5-BEB5-2C02FC4CC599}"/>
              </a:ext>
            </a:extLst>
          </p:cNvPr>
          <p:cNvPicPr>
            <a:picLocks noGrp="1" noChangeAspect="1"/>
          </p:cNvPicPr>
          <p:nvPr>
            <p:ph idx="1"/>
          </p:nvPr>
        </p:nvPicPr>
        <p:blipFill>
          <a:blip r:embed="rId2"/>
          <a:stretch>
            <a:fillRect/>
          </a:stretch>
        </p:blipFill>
        <p:spPr>
          <a:xfrm>
            <a:off x="100445" y="3217676"/>
            <a:ext cx="6913912" cy="3541712"/>
          </a:xfrm>
        </p:spPr>
      </p:pic>
      <p:cxnSp>
        <p:nvCxnSpPr>
          <p:cNvPr id="7" name="Conector recto de flecha 6">
            <a:extLst>
              <a:ext uri="{FF2B5EF4-FFF2-40B4-BE49-F238E27FC236}">
                <a16:creationId xmlns:a16="http://schemas.microsoft.com/office/drawing/2014/main" id="{E785A3CF-9DF2-49E2-9C60-8E8D5B09584A}"/>
              </a:ext>
            </a:extLst>
          </p:cNvPr>
          <p:cNvCxnSpPr>
            <a:cxnSpLocks/>
          </p:cNvCxnSpPr>
          <p:nvPr/>
        </p:nvCxnSpPr>
        <p:spPr>
          <a:xfrm flipH="1" flipV="1">
            <a:off x="3209365" y="2886635"/>
            <a:ext cx="1" cy="70821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9" name="CuadroTexto 8">
            <a:extLst>
              <a:ext uri="{FF2B5EF4-FFF2-40B4-BE49-F238E27FC236}">
                <a16:creationId xmlns:a16="http://schemas.microsoft.com/office/drawing/2014/main" id="{546C5712-4CF1-4862-A42E-C1F7DF31AEE2}"/>
              </a:ext>
            </a:extLst>
          </p:cNvPr>
          <p:cNvSpPr txBox="1"/>
          <p:nvPr/>
        </p:nvSpPr>
        <p:spPr>
          <a:xfrm>
            <a:off x="1739153" y="2187388"/>
            <a:ext cx="3155576" cy="923330"/>
          </a:xfrm>
          <a:prstGeom prst="rect">
            <a:avLst/>
          </a:prstGeom>
          <a:noFill/>
        </p:spPr>
        <p:txBody>
          <a:bodyPr wrap="square" rtlCol="0">
            <a:spAutoFit/>
          </a:bodyPr>
          <a:lstStyle/>
          <a:p>
            <a:pPr algn="just"/>
            <a:r>
              <a:rPr lang="es-ES" dirty="0"/>
              <a:t>Define el paquete organizativo donde se encuentra guardado este archivo de control.</a:t>
            </a:r>
            <a:endParaRPr lang="es-MX" dirty="0"/>
          </a:p>
        </p:txBody>
      </p:sp>
      <p:sp>
        <p:nvSpPr>
          <p:cNvPr id="10" name="Cerrar llave 9">
            <a:extLst>
              <a:ext uri="{FF2B5EF4-FFF2-40B4-BE49-F238E27FC236}">
                <a16:creationId xmlns:a16="http://schemas.microsoft.com/office/drawing/2014/main" id="{13E17EA3-52EF-406F-A266-9CEB56C9FF51}"/>
              </a:ext>
            </a:extLst>
          </p:cNvPr>
          <p:cNvSpPr/>
          <p:nvPr/>
        </p:nvSpPr>
        <p:spPr>
          <a:xfrm>
            <a:off x="3621741" y="3729318"/>
            <a:ext cx="609600" cy="77096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cxnSp>
        <p:nvCxnSpPr>
          <p:cNvPr id="12" name="Conector recto de flecha 11">
            <a:extLst>
              <a:ext uri="{FF2B5EF4-FFF2-40B4-BE49-F238E27FC236}">
                <a16:creationId xmlns:a16="http://schemas.microsoft.com/office/drawing/2014/main" id="{1CDE12D0-7CB2-4AFE-8E00-897198C8E27C}"/>
              </a:ext>
            </a:extLst>
          </p:cNvPr>
          <p:cNvCxnSpPr/>
          <p:nvPr/>
        </p:nvCxnSpPr>
        <p:spPr>
          <a:xfrm flipV="1">
            <a:off x="4231341" y="2321859"/>
            <a:ext cx="1461247" cy="181983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3" name="CuadroTexto 12">
            <a:extLst>
              <a:ext uri="{FF2B5EF4-FFF2-40B4-BE49-F238E27FC236}">
                <a16:creationId xmlns:a16="http://schemas.microsoft.com/office/drawing/2014/main" id="{4C8ED9D5-AB19-4530-B012-4BE5CEB81BA3}"/>
              </a:ext>
            </a:extLst>
          </p:cNvPr>
          <p:cNvSpPr txBox="1"/>
          <p:nvPr/>
        </p:nvSpPr>
        <p:spPr>
          <a:xfrm>
            <a:off x="5134273" y="1259791"/>
            <a:ext cx="2438400" cy="1200329"/>
          </a:xfrm>
          <a:prstGeom prst="rect">
            <a:avLst/>
          </a:prstGeom>
          <a:noFill/>
        </p:spPr>
        <p:txBody>
          <a:bodyPr wrap="square" rtlCol="0">
            <a:spAutoFit/>
          </a:bodyPr>
          <a:lstStyle/>
          <a:p>
            <a:pPr algn="just"/>
            <a:r>
              <a:rPr lang="es-ES" dirty="0"/>
              <a:t>Importan las clases esenciales de JavaFX necesarias para manejar las etiquetas.</a:t>
            </a:r>
            <a:endParaRPr lang="es-MX" dirty="0"/>
          </a:p>
        </p:txBody>
      </p:sp>
      <p:cxnSp>
        <p:nvCxnSpPr>
          <p:cNvPr id="15" name="Conector recto de flecha 14">
            <a:extLst>
              <a:ext uri="{FF2B5EF4-FFF2-40B4-BE49-F238E27FC236}">
                <a16:creationId xmlns:a16="http://schemas.microsoft.com/office/drawing/2014/main" id="{850AC932-CD28-4F7D-8827-CEEC27B8734F}"/>
              </a:ext>
            </a:extLst>
          </p:cNvPr>
          <p:cNvCxnSpPr>
            <a:cxnSpLocks/>
          </p:cNvCxnSpPr>
          <p:nvPr/>
        </p:nvCxnSpPr>
        <p:spPr>
          <a:xfrm flipV="1">
            <a:off x="3720353" y="2097088"/>
            <a:ext cx="4751294" cy="253766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8" name="Rectangle 1">
            <a:extLst>
              <a:ext uri="{FF2B5EF4-FFF2-40B4-BE49-F238E27FC236}">
                <a16:creationId xmlns:a16="http://schemas.microsoft.com/office/drawing/2014/main" id="{CCFF35BF-EDED-4128-B56E-18ACD3C335C2}"/>
              </a:ext>
            </a:extLst>
          </p:cNvPr>
          <p:cNvSpPr>
            <a:spLocks noChangeArrowheads="1"/>
          </p:cNvSpPr>
          <p:nvPr/>
        </p:nvSpPr>
        <p:spPr bwMode="auto">
          <a:xfrm>
            <a:off x="8380657" y="952015"/>
            <a:ext cx="2287344"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1800" b="0" i="0" u="none" strike="noStrike" cap="none" normalizeH="0" baseline="0" dirty="0">
                <a:ln>
                  <a:noFill/>
                </a:ln>
                <a:solidFill>
                  <a:schemeClr val="tx1"/>
                </a:solidFill>
                <a:effectLst/>
                <a:latin typeface="Arial" panose="020B0604020202020204" pitchFamily="34" charset="0"/>
              </a:rPr>
              <a:t>Declara la clase pública </a:t>
            </a:r>
            <a:r>
              <a:rPr kumimoji="0" lang="es-MX" altLang="es-MX" b="0" i="0" u="none" strike="noStrike" cap="none" normalizeH="0" baseline="0" dirty="0" err="1">
                <a:ln>
                  <a:noFill/>
                </a:ln>
                <a:solidFill>
                  <a:schemeClr val="tx1"/>
                </a:solidFill>
                <a:effectLst/>
                <a:cs typeface="Courier New" panose="02070309020205020404" pitchFamily="49" charset="0"/>
              </a:rPr>
              <a:t>MenuController</a:t>
            </a:r>
            <a:r>
              <a:rPr kumimoji="0" lang="es-MX" altLang="es-MX" sz="1400" b="0" i="0" u="none" strike="noStrike" cap="none" normalizeH="0" baseline="0" dirty="0">
                <a:ln>
                  <a:noFill/>
                </a:ln>
                <a:solidFill>
                  <a:schemeClr val="tx1"/>
                </a:solidFill>
                <a:effectLst/>
              </a:rPr>
              <a:t>,</a:t>
            </a:r>
            <a:r>
              <a:rPr kumimoji="0" lang="es-MX" altLang="es-MX" b="0" i="0" u="none" strike="noStrike" cap="none" normalizeH="0" baseline="0" dirty="0">
                <a:ln>
                  <a:noFill/>
                </a:ln>
                <a:solidFill>
                  <a:schemeClr val="tx1"/>
                </a:solidFill>
                <a:effectLst/>
              </a:rPr>
              <a:t> que controlará la pantalla del menú principal. </a:t>
            </a:r>
            <a:endParaRPr kumimoji="0" lang="es-MX" altLang="es-MX" sz="1800" b="0" i="0" u="none" strike="noStrike" cap="none" normalizeH="0" baseline="0" dirty="0">
              <a:ln>
                <a:noFill/>
              </a:ln>
              <a:solidFill>
                <a:schemeClr val="tx1"/>
              </a:solidFill>
              <a:effectLst/>
            </a:endParaRPr>
          </a:p>
        </p:txBody>
      </p:sp>
      <p:cxnSp>
        <p:nvCxnSpPr>
          <p:cNvPr id="20" name="Conector recto de flecha 19">
            <a:extLst>
              <a:ext uri="{FF2B5EF4-FFF2-40B4-BE49-F238E27FC236}">
                <a16:creationId xmlns:a16="http://schemas.microsoft.com/office/drawing/2014/main" id="{F93570E4-D75D-48D9-9D4B-648BF8D85AE2}"/>
              </a:ext>
            </a:extLst>
          </p:cNvPr>
          <p:cNvCxnSpPr/>
          <p:nvPr/>
        </p:nvCxnSpPr>
        <p:spPr>
          <a:xfrm flipV="1">
            <a:off x="4572000" y="3217676"/>
            <a:ext cx="3899647" cy="151568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1" name="CuadroTexto 20">
            <a:extLst>
              <a:ext uri="{FF2B5EF4-FFF2-40B4-BE49-F238E27FC236}">
                <a16:creationId xmlns:a16="http://schemas.microsoft.com/office/drawing/2014/main" id="{86EF2278-A84A-4FE7-A7B2-21F5AE38F4EA}"/>
              </a:ext>
            </a:extLst>
          </p:cNvPr>
          <p:cNvSpPr txBox="1"/>
          <p:nvPr/>
        </p:nvSpPr>
        <p:spPr>
          <a:xfrm>
            <a:off x="8471647" y="2528047"/>
            <a:ext cx="3014265" cy="1200329"/>
          </a:xfrm>
          <a:prstGeom prst="rect">
            <a:avLst/>
          </a:prstGeom>
          <a:noFill/>
        </p:spPr>
        <p:txBody>
          <a:bodyPr wrap="square" rtlCol="0">
            <a:spAutoFit/>
          </a:bodyPr>
          <a:lstStyle/>
          <a:p>
            <a:pPr algn="just"/>
            <a:r>
              <a:rPr lang="es-ES" dirty="0"/>
              <a:t>Declara y vincula los tres botones de la interfaz gráfica que el usuario usará para elegir qué estructura abrir.</a:t>
            </a:r>
            <a:endParaRPr lang="es-MX" dirty="0"/>
          </a:p>
        </p:txBody>
      </p:sp>
      <p:sp>
        <p:nvSpPr>
          <p:cNvPr id="22" name="Cerrar llave 21">
            <a:extLst>
              <a:ext uri="{FF2B5EF4-FFF2-40B4-BE49-F238E27FC236}">
                <a16:creationId xmlns:a16="http://schemas.microsoft.com/office/drawing/2014/main" id="{CBB46A15-5F55-48E0-8DD4-B13E6FCEB1ED}"/>
              </a:ext>
            </a:extLst>
          </p:cNvPr>
          <p:cNvSpPr/>
          <p:nvPr/>
        </p:nvSpPr>
        <p:spPr>
          <a:xfrm>
            <a:off x="3558988" y="4903694"/>
            <a:ext cx="3594847" cy="120962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3" name="CuadroTexto 22">
            <a:extLst>
              <a:ext uri="{FF2B5EF4-FFF2-40B4-BE49-F238E27FC236}">
                <a16:creationId xmlns:a16="http://schemas.microsoft.com/office/drawing/2014/main" id="{89B06A77-488A-4DC5-82F4-488B46375BB6}"/>
              </a:ext>
            </a:extLst>
          </p:cNvPr>
          <p:cNvSpPr txBox="1"/>
          <p:nvPr/>
        </p:nvSpPr>
        <p:spPr>
          <a:xfrm>
            <a:off x="7216588" y="5172635"/>
            <a:ext cx="3738283" cy="1200329"/>
          </a:xfrm>
          <a:prstGeom prst="rect">
            <a:avLst/>
          </a:prstGeom>
          <a:noFill/>
        </p:spPr>
        <p:txBody>
          <a:bodyPr wrap="square" rtlCol="0">
            <a:spAutoFit/>
          </a:bodyPr>
          <a:lstStyle/>
          <a:p>
            <a:r>
              <a:rPr lang="es-ES" dirty="0"/>
              <a:t>Método que se ejecuta al presionar el botón de pilas y así con las demás. Llama a la función interna para cargar la interfaz</a:t>
            </a:r>
            <a:endParaRPr lang="es-MX" dirty="0"/>
          </a:p>
        </p:txBody>
      </p:sp>
      <p:cxnSp>
        <p:nvCxnSpPr>
          <p:cNvPr id="25" name="Conector recto de flecha 24">
            <a:extLst>
              <a:ext uri="{FF2B5EF4-FFF2-40B4-BE49-F238E27FC236}">
                <a16:creationId xmlns:a16="http://schemas.microsoft.com/office/drawing/2014/main" id="{206B49B6-E608-440F-A312-18DA14046E38}"/>
              </a:ext>
            </a:extLst>
          </p:cNvPr>
          <p:cNvCxnSpPr/>
          <p:nvPr/>
        </p:nvCxnSpPr>
        <p:spPr>
          <a:xfrm flipV="1">
            <a:off x="5065059" y="4572000"/>
            <a:ext cx="2967317" cy="166743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6" name="CuadroTexto 25">
            <a:extLst>
              <a:ext uri="{FF2B5EF4-FFF2-40B4-BE49-F238E27FC236}">
                <a16:creationId xmlns:a16="http://schemas.microsoft.com/office/drawing/2014/main" id="{C9B8D79D-B4DD-4B94-BE19-0C80A6FEB1FB}"/>
              </a:ext>
            </a:extLst>
          </p:cNvPr>
          <p:cNvSpPr txBox="1"/>
          <p:nvPr/>
        </p:nvSpPr>
        <p:spPr>
          <a:xfrm>
            <a:off x="8130988" y="3938690"/>
            <a:ext cx="3738283" cy="1200329"/>
          </a:xfrm>
          <a:prstGeom prst="rect">
            <a:avLst/>
          </a:prstGeom>
          <a:noFill/>
        </p:spPr>
        <p:txBody>
          <a:bodyPr wrap="square" rtlCol="0">
            <a:spAutoFit/>
          </a:bodyPr>
          <a:lstStyle/>
          <a:p>
            <a:pPr algn="just"/>
            <a:r>
              <a:rPr lang="es-ES" dirty="0"/>
              <a:t>Declara un método privado y dinámico que recibe la ruta del archivo FXML y el título que tendrá la nueva ventana a abrir.</a:t>
            </a:r>
            <a:endParaRPr lang="es-MX" dirty="0"/>
          </a:p>
        </p:txBody>
      </p:sp>
    </p:spTree>
    <p:extLst>
      <p:ext uri="{BB962C8B-B14F-4D97-AF65-F5344CB8AC3E}">
        <p14:creationId xmlns:p14="http://schemas.microsoft.com/office/powerpoint/2010/main" val="4204211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CE7863-2227-4D39-A284-4DAC27D0C4AE}"/>
              </a:ext>
            </a:extLst>
          </p:cNvPr>
          <p:cNvSpPr>
            <a:spLocks noGrp="1"/>
          </p:cNvSpPr>
          <p:nvPr>
            <p:ph type="title"/>
          </p:nvPr>
        </p:nvSpPr>
        <p:spPr>
          <a:xfrm>
            <a:off x="506507" y="637095"/>
            <a:ext cx="9905998" cy="1478570"/>
          </a:xfrm>
        </p:spPr>
        <p:txBody>
          <a:bodyPr/>
          <a:lstStyle/>
          <a:p>
            <a:r>
              <a:rPr lang="es-ES" dirty="0"/>
              <a:t>Cola-</a:t>
            </a:r>
            <a:r>
              <a:rPr lang="es-ES" dirty="0" err="1"/>
              <a:t>view.fxml</a:t>
            </a:r>
            <a:endParaRPr lang="es-MX" dirty="0"/>
          </a:p>
        </p:txBody>
      </p:sp>
      <p:pic>
        <p:nvPicPr>
          <p:cNvPr id="5" name="Marcador de contenido 4">
            <a:extLst>
              <a:ext uri="{FF2B5EF4-FFF2-40B4-BE49-F238E27FC236}">
                <a16:creationId xmlns:a16="http://schemas.microsoft.com/office/drawing/2014/main" id="{AF95E0D4-B278-4EC9-AED2-29C00ACA6588}"/>
              </a:ext>
            </a:extLst>
          </p:cNvPr>
          <p:cNvPicPr>
            <a:picLocks noGrp="1" noChangeAspect="1"/>
          </p:cNvPicPr>
          <p:nvPr>
            <p:ph idx="1"/>
          </p:nvPr>
        </p:nvPicPr>
        <p:blipFill>
          <a:blip r:embed="rId2"/>
          <a:stretch>
            <a:fillRect/>
          </a:stretch>
        </p:blipFill>
        <p:spPr>
          <a:xfrm>
            <a:off x="247959" y="3208711"/>
            <a:ext cx="6636814" cy="3541712"/>
          </a:xfrm>
        </p:spPr>
      </p:pic>
      <p:cxnSp>
        <p:nvCxnSpPr>
          <p:cNvPr id="7" name="Conector recto de flecha 6">
            <a:extLst>
              <a:ext uri="{FF2B5EF4-FFF2-40B4-BE49-F238E27FC236}">
                <a16:creationId xmlns:a16="http://schemas.microsoft.com/office/drawing/2014/main" id="{C8889320-FA5F-4029-A88A-C9B4D076CE83}"/>
              </a:ext>
            </a:extLst>
          </p:cNvPr>
          <p:cNvCxnSpPr/>
          <p:nvPr/>
        </p:nvCxnSpPr>
        <p:spPr>
          <a:xfrm flipH="1" flipV="1">
            <a:off x="3792071" y="2877671"/>
            <a:ext cx="224117" cy="69924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 name="CuadroTexto 7">
            <a:extLst>
              <a:ext uri="{FF2B5EF4-FFF2-40B4-BE49-F238E27FC236}">
                <a16:creationId xmlns:a16="http://schemas.microsoft.com/office/drawing/2014/main" id="{59FF26FF-521C-46A6-8DB2-55F46493BACA}"/>
              </a:ext>
            </a:extLst>
          </p:cNvPr>
          <p:cNvSpPr txBox="1"/>
          <p:nvPr/>
        </p:nvSpPr>
        <p:spPr>
          <a:xfrm>
            <a:off x="2097741" y="2294965"/>
            <a:ext cx="2796988" cy="923330"/>
          </a:xfrm>
          <a:prstGeom prst="rect">
            <a:avLst/>
          </a:prstGeom>
          <a:noFill/>
        </p:spPr>
        <p:txBody>
          <a:bodyPr wrap="square" rtlCol="0">
            <a:spAutoFit/>
          </a:bodyPr>
          <a:lstStyle/>
          <a:p>
            <a:pPr algn="just"/>
            <a:r>
              <a:rPr lang="es-ES" dirty="0"/>
              <a:t>Indica que es un archivo XML estándar con codificación de texto.</a:t>
            </a:r>
            <a:endParaRPr lang="es-MX" dirty="0"/>
          </a:p>
        </p:txBody>
      </p:sp>
      <p:cxnSp>
        <p:nvCxnSpPr>
          <p:cNvPr id="10" name="Conector recto de flecha 9">
            <a:extLst>
              <a:ext uri="{FF2B5EF4-FFF2-40B4-BE49-F238E27FC236}">
                <a16:creationId xmlns:a16="http://schemas.microsoft.com/office/drawing/2014/main" id="{0139CA5E-026A-4A4A-A871-72D76121CDD4}"/>
              </a:ext>
            </a:extLst>
          </p:cNvPr>
          <p:cNvCxnSpPr/>
          <p:nvPr/>
        </p:nvCxnSpPr>
        <p:spPr>
          <a:xfrm>
            <a:off x="2339788" y="5056094"/>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A75B588F-AF64-44EF-AB45-034A8FDD88B8}"/>
              </a:ext>
            </a:extLst>
          </p:cNvPr>
          <p:cNvSpPr txBox="1"/>
          <p:nvPr/>
        </p:nvSpPr>
        <p:spPr>
          <a:xfrm>
            <a:off x="8642097" y="99860"/>
            <a:ext cx="3292940" cy="2862322"/>
          </a:xfrm>
          <a:prstGeom prst="rect">
            <a:avLst/>
          </a:prstGeom>
          <a:noFill/>
        </p:spPr>
        <p:txBody>
          <a:bodyPr wrap="square" rtlCol="0">
            <a:spAutoFit/>
          </a:bodyPr>
          <a:lstStyle/>
          <a:p>
            <a:pPr algn="just"/>
            <a:r>
              <a:rPr lang="es-ES" dirty="0">
                <a:latin typeface="Google Sans"/>
              </a:rPr>
              <a:t>D</a:t>
            </a:r>
            <a:r>
              <a:rPr lang="es-ES" b="0" u="none" strike="noStrike" dirty="0">
                <a:effectLst/>
                <a:latin typeface="Google Sans"/>
              </a:rPr>
              <a:t>efine la </a:t>
            </a:r>
            <a:r>
              <a:rPr lang="es-ES" u="none" strike="noStrike" dirty="0">
                <a:effectLst/>
                <a:latin typeface="Google Sans"/>
              </a:rPr>
              <a:t>interfaz gráfica del módulo de Colas </a:t>
            </a:r>
            <a:r>
              <a:rPr lang="es-ES" b="0" u="none" strike="noStrike" dirty="0">
                <a:effectLst/>
                <a:latin typeface="Google Sans"/>
              </a:rPr>
              <a:t>utilizando XML y JavaFX para estructurar y dar estilo a la pantalla. Su objetivo principal es construir un diseño visual moderno que permita al usuario interactuar de manera intuitiva con las operaciones de la estructura de datos.</a:t>
            </a:r>
          </a:p>
          <a:p>
            <a:endParaRPr lang="es-MX" dirty="0"/>
          </a:p>
        </p:txBody>
      </p:sp>
      <p:sp>
        <p:nvSpPr>
          <p:cNvPr id="12" name="Cerrar llave 11">
            <a:extLst>
              <a:ext uri="{FF2B5EF4-FFF2-40B4-BE49-F238E27FC236}">
                <a16:creationId xmlns:a16="http://schemas.microsoft.com/office/drawing/2014/main" id="{DC0E6A54-28B4-4029-9699-0E66125161A6}"/>
              </a:ext>
            </a:extLst>
          </p:cNvPr>
          <p:cNvSpPr/>
          <p:nvPr/>
        </p:nvSpPr>
        <p:spPr>
          <a:xfrm>
            <a:off x="5988424" y="3989294"/>
            <a:ext cx="1685364" cy="2537012"/>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s-MX"/>
          </a:p>
        </p:txBody>
      </p:sp>
      <p:pic>
        <p:nvPicPr>
          <p:cNvPr id="16" name="Imagen 15">
            <a:extLst>
              <a:ext uri="{FF2B5EF4-FFF2-40B4-BE49-F238E27FC236}">
                <a16:creationId xmlns:a16="http://schemas.microsoft.com/office/drawing/2014/main" id="{EB9C40E2-9534-4539-88A5-67C6403DC5E2}"/>
              </a:ext>
            </a:extLst>
          </p:cNvPr>
          <p:cNvPicPr>
            <a:picLocks noChangeAspect="1"/>
          </p:cNvPicPr>
          <p:nvPr/>
        </p:nvPicPr>
        <p:blipFill>
          <a:blip r:embed="rId3"/>
          <a:stretch>
            <a:fillRect/>
          </a:stretch>
        </p:blipFill>
        <p:spPr>
          <a:xfrm>
            <a:off x="4999543" y="99860"/>
            <a:ext cx="3439128" cy="2553040"/>
          </a:xfrm>
          <a:prstGeom prst="rect">
            <a:avLst/>
          </a:prstGeom>
        </p:spPr>
      </p:pic>
      <p:pic>
        <p:nvPicPr>
          <p:cNvPr id="20" name="Imagen 19">
            <a:extLst>
              <a:ext uri="{FF2B5EF4-FFF2-40B4-BE49-F238E27FC236}">
                <a16:creationId xmlns:a16="http://schemas.microsoft.com/office/drawing/2014/main" id="{05F6C1FF-DAE6-452A-9FA3-0B3F88DA5751}"/>
              </a:ext>
            </a:extLst>
          </p:cNvPr>
          <p:cNvPicPr>
            <a:picLocks noChangeAspect="1"/>
          </p:cNvPicPr>
          <p:nvPr/>
        </p:nvPicPr>
        <p:blipFill>
          <a:blip r:embed="rId4"/>
          <a:stretch>
            <a:fillRect/>
          </a:stretch>
        </p:blipFill>
        <p:spPr>
          <a:xfrm>
            <a:off x="7834571" y="3806172"/>
            <a:ext cx="4222245" cy="2929930"/>
          </a:xfrm>
          <a:prstGeom prst="rect">
            <a:avLst/>
          </a:prstGeom>
        </p:spPr>
      </p:pic>
      <p:cxnSp>
        <p:nvCxnSpPr>
          <p:cNvPr id="14" name="Conector recto de flecha 13">
            <a:extLst>
              <a:ext uri="{FF2B5EF4-FFF2-40B4-BE49-F238E27FC236}">
                <a16:creationId xmlns:a16="http://schemas.microsoft.com/office/drawing/2014/main" id="{05A2A690-4521-47B4-9E69-C19845814E60}"/>
              </a:ext>
            </a:extLst>
          </p:cNvPr>
          <p:cNvCxnSpPr>
            <a:cxnSpLocks/>
            <a:stCxn id="12" idx="1"/>
            <a:endCxn id="11" idx="2"/>
          </p:cNvCxnSpPr>
          <p:nvPr/>
        </p:nvCxnSpPr>
        <p:spPr>
          <a:xfrm flipV="1">
            <a:off x="7673788" y="2962182"/>
            <a:ext cx="2614779" cy="229561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1" name="CuadroTexto 20">
            <a:extLst>
              <a:ext uri="{FF2B5EF4-FFF2-40B4-BE49-F238E27FC236}">
                <a16:creationId xmlns:a16="http://schemas.microsoft.com/office/drawing/2014/main" id="{68774D3E-CD8E-402E-B2DB-C73938252D53}"/>
              </a:ext>
            </a:extLst>
          </p:cNvPr>
          <p:cNvSpPr txBox="1"/>
          <p:nvPr/>
        </p:nvSpPr>
        <p:spPr>
          <a:xfrm>
            <a:off x="10013576" y="3514165"/>
            <a:ext cx="1568824" cy="369332"/>
          </a:xfrm>
          <a:prstGeom prst="rect">
            <a:avLst/>
          </a:prstGeom>
          <a:noFill/>
        </p:spPr>
        <p:txBody>
          <a:bodyPr wrap="square" rtlCol="0">
            <a:spAutoFit/>
          </a:bodyPr>
          <a:lstStyle/>
          <a:p>
            <a:r>
              <a:rPr lang="es-ES" dirty="0" err="1"/>
              <a:t>Menu</a:t>
            </a:r>
            <a:endParaRPr lang="es-MX" dirty="0"/>
          </a:p>
        </p:txBody>
      </p:sp>
      <p:sp>
        <p:nvSpPr>
          <p:cNvPr id="22" name="CuadroTexto 21">
            <a:extLst>
              <a:ext uri="{FF2B5EF4-FFF2-40B4-BE49-F238E27FC236}">
                <a16:creationId xmlns:a16="http://schemas.microsoft.com/office/drawing/2014/main" id="{E348B063-F01A-4690-BA73-D7C38F4907EB}"/>
              </a:ext>
            </a:extLst>
          </p:cNvPr>
          <p:cNvSpPr txBox="1"/>
          <p:nvPr/>
        </p:nvSpPr>
        <p:spPr>
          <a:xfrm>
            <a:off x="3908612" y="412376"/>
            <a:ext cx="762000" cy="369332"/>
          </a:xfrm>
          <a:prstGeom prst="rect">
            <a:avLst/>
          </a:prstGeom>
          <a:noFill/>
        </p:spPr>
        <p:txBody>
          <a:bodyPr wrap="square" rtlCol="0">
            <a:spAutoFit/>
          </a:bodyPr>
          <a:lstStyle/>
          <a:p>
            <a:r>
              <a:rPr lang="es-ES" dirty="0"/>
              <a:t>Lista</a:t>
            </a:r>
            <a:endParaRPr lang="es-MX" dirty="0"/>
          </a:p>
        </p:txBody>
      </p:sp>
    </p:spTree>
    <p:extLst>
      <p:ext uri="{BB962C8B-B14F-4D97-AF65-F5344CB8AC3E}">
        <p14:creationId xmlns:p14="http://schemas.microsoft.com/office/powerpoint/2010/main" val="2674990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691FC4-3E61-454C-8E98-9C90AE6F0317}"/>
              </a:ext>
            </a:extLst>
          </p:cNvPr>
          <p:cNvSpPr>
            <a:spLocks noGrp="1"/>
          </p:cNvSpPr>
          <p:nvPr>
            <p:ph type="title"/>
          </p:nvPr>
        </p:nvSpPr>
        <p:spPr/>
        <p:txBody>
          <a:bodyPr/>
          <a:lstStyle/>
          <a:p>
            <a:r>
              <a:rPr lang="es-ES" dirty="0"/>
              <a:t>Ejecución</a:t>
            </a:r>
            <a:endParaRPr lang="es-MX" dirty="0"/>
          </a:p>
        </p:txBody>
      </p:sp>
      <p:pic>
        <p:nvPicPr>
          <p:cNvPr id="5" name="Marcador de contenido 4">
            <a:extLst>
              <a:ext uri="{FF2B5EF4-FFF2-40B4-BE49-F238E27FC236}">
                <a16:creationId xmlns:a16="http://schemas.microsoft.com/office/drawing/2014/main" id="{2B9D6CE3-892D-4F01-A344-FB55CD6B20AA}"/>
              </a:ext>
            </a:extLst>
          </p:cNvPr>
          <p:cNvPicPr>
            <a:picLocks noGrp="1" noChangeAspect="1"/>
          </p:cNvPicPr>
          <p:nvPr>
            <p:ph idx="1"/>
          </p:nvPr>
        </p:nvPicPr>
        <p:blipFill>
          <a:blip r:embed="rId2"/>
          <a:stretch>
            <a:fillRect/>
          </a:stretch>
        </p:blipFill>
        <p:spPr>
          <a:xfrm>
            <a:off x="3838566" y="2249488"/>
            <a:ext cx="4511693" cy="3541712"/>
          </a:xfrm>
        </p:spPr>
      </p:pic>
      <p:sp>
        <p:nvSpPr>
          <p:cNvPr id="6" name="CuadroTexto 5">
            <a:extLst>
              <a:ext uri="{FF2B5EF4-FFF2-40B4-BE49-F238E27FC236}">
                <a16:creationId xmlns:a16="http://schemas.microsoft.com/office/drawing/2014/main" id="{3349DEB7-E864-435F-A794-258542F4F5AC}"/>
              </a:ext>
            </a:extLst>
          </p:cNvPr>
          <p:cNvSpPr txBox="1"/>
          <p:nvPr/>
        </p:nvSpPr>
        <p:spPr>
          <a:xfrm>
            <a:off x="9054353" y="2519082"/>
            <a:ext cx="2250141" cy="1754326"/>
          </a:xfrm>
          <a:prstGeom prst="rect">
            <a:avLst/>
          </a:prstGeom>
          <a:noFill/>
        </p:spPr>
        <p:txBody>
          <a:bodyPr wrap="square" rtlCol="0">
            <a:spAutoFit/>
          </a:bodyPr>
          <a:lstStyle/>
          <a:p>
            <a:pPr algn="just"/>
            <a:r>
              <a:rPr lang="es-ES" dirty="0"/>
              <a:t>Y así es como se ejecuta  esta es la ventana principal en donde se dan a conocer las tres opciones.</a:t>
            </a:r>
            <a:endParaRPr lang="es-MX" dirty="0"/>
          </a:p>
        </p:txBody>
      </p:sp>
    </p:spTree>
    <p:extLst>
      <p:ext uri="{BB962C8B-B14F-4D97-AF65-F5344CB8AC3E}">
        <p14:creationId xmlns:p14="http://schemas.microsoft.com/office/powerpoint/2010/main" val="3135245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FF01EA-58CA-4A8E-A1BB-DE6A8468C0E5}"/>
              </a:ext>
            </a:extLst>
          </p:cNvPr>
          <p:cNvSpPr>
            <a:spLocks noGrp="1"/>
          </p:cNvSpPr>
          <p:nvPr>
            <p:ph type="title"/>
          </p:nvPr>
        </p:nvSpPr>
        <p:spPr/>
        <p:txBody>
          <a:bodyPr/>
          <a:lstStyle/>
          <a:p>
            <a:r>
              <a:rPr lang="es-ES" dirty="0"/>
              <a:t>Pila</a:t>
            </a:r>
            <a:endParaRPr lang="es-MX" dirty="0"/>
          </a:p>
        </p:txBody>
      </p:sp>
      <p:pic>
        <p:nvPicPr>
          <p:cNvPr id="5" name="Marcador de contenido 4">
            <a:extLst>
              <a:ext uri="{FF2B5EF4-FFF2-40B4-BE49-F238E27FC236}">
                <a16:creationId xmlns:a16="http://schemas.microsoft.com/office/drawing/2014/main" id="{4BBFB1B7-B4E3-4ECB-BBE2-7B2573DF969A}"/>
              </a:ext>
            </a:extLst>
          </p:cNvPr>
          <p:cNvPicPr>
            <a:picLocks noGrp="1" noChangeAspect="1"/>
          </p:cNvPicPr>
          <p:nvPr>
            <p:ph idx="1"/>
          </p:nvPr>
        </p:nvPicPr>
        <p:blipFill>
          <a:blip r:embed="rId2"/>
          <a:stretch>
            <a:fillRect/>
          </a:stretch>
        </p:blipFill>
        <p:spPr>
          <a:xfrm>
            <a:off x="153713" y="3281082"/>
            <a:ext cx="4108711" cy="3250687"/>
          </a:xfrm>
        </p:spPr>
      </p:pic>
      <p:pic>
        <p:nvPicPr>
          <p:cNvPr id="7" name="Imagen 6">
            <a:extLst>
              <a:ext uri="{FF2B5EF4-FFF2-40B4-BE49-F238E27FC236}">
                <a16:creationId xmlns:a16="http://schemas.microsoft.com/office/drawing/2014/main" id="{AA2BD31E-2663-411D-BB8D-75CA3952A638}"/>
              </a:ext>
            </a:extLst>
          </p:cNvPr>
          <p:cNvPicPr>
            <a:picLocks noChangeAspect="1"/>
          </p:cNvPicPr>
          <p:nvPr/>
        </p:nvPicPr>
        <p:blipFill>
          <a:blip r:embed="rId3"/>
          <a:stretch>
            <a:fillRect/>
          </a:stretch>
        </p:blipFill>
        <p:spPr>
          <a:xfrm>
            <a:off x="4468008" y="3052810"/>
            <a:ext cx="3885618" cy="3541712"/>
          </a:xfrm>
          <a:prstGeom prst="rect">
            <a:avLst/>
          </a:prstGeom>
        </p:spPr>
      </p:pic>
      <p:sp>
        <p:nvSpPr>
          <p:cNvPr id="8" name="CuadroTexto 7">
            <a:extLst>
              <a:ext uri="{FF2B5EF4-FFF2-40B4-BE49-F238E27FC236}">
                <a16:creationId xmlns:a16="http://schemas.microsoft.com/office/drawing/2014/main" id="{CC57AAC0-14ED-4020-856D-23A0C0567314}"/>
              </a:ext>
            </a:extLst>
          </p:cNvPr>
          <p:cNvSpPr txBox="1"/>
          <p:nvPr/>
        </p:nvSpPr>
        <p:spPr>
          <a:xfrm>
            <a:off x="5552737" y="1357803"/>
            <a:ext cx="2277035" cy="461665"/>
          </a:xfrm>
          <a:prstGeom prst="rect">
            <a:avLst/>
          </a:prstGeom>
          <a:noFill/>
        </p:spPr>
        <p:txBody>
          <a:bodyPr wrap="square" rtlCol="0">
            <a:spAutoFit/>
          </a:bodyPr>
          <a:lstStyle/>
          <a:p>
            <a:r>
              <a:rPr lang="es-ES" sz="2400" b="1" dirty="0"/>
              <a:t>COLA</a:t>
            </a:r>
            <a:endParaRPr lang="es-MX" b="1" dirty="0"/>
          </a:p>
        </p:txBody>
      </p:sp>
      <p:pic>
        <p:nvPicPr>
          <p:cNvPr id="10" name="Imagen 9">
            <a:extLst>
              <a:ext uri="{FF2B5EF4-FFF2-40B4-BE49-F238E27FC236}">
                <a16:creationId xmlns:a16="http://schemas.microsoft.com/office/drawing/2014/main" id="{9724FD89-7EBC-4529-AAEB-F9D96BB77020}"/>
              </a:ext>
            </a:extLst>
          </p:cNvPr>
          <p:cNvPicPr>
            <a:picLocks noChangeAspect="1"/>
          </p:cNvPicPr>
          <p:nvPr/>
        </p:nvPicPr>
        <p:blipFill>
          <a:blip r:embed="rId4"/>
          <a:stretch>
            <a:fillRect/>
          </a:stretch>
        </p:blipFill>
        <p:spPr>
          <a:xfrm>
            <a:off x="8390996" y="3281082"/>
            <a:ext cx="3647291" cy="3292288"/>
          </a:xfrm>
          <a:prstGeom prst="rect">
            <a:avLst/>
          </a:prstGeom>
        </p:spPr>
      </p:pic>
      <p:sp>
        <p:nvSpPr>
          <p:cNvPr id="11" name="CuadroTexto 10">
            <a:extLst>
              <a:ext uri="{FF2B5EF4-FFF2-40B4-BE49-F238E27FC236}">
                <a16:creationId xmlns:a16="http://schemas.microsoft.com/office/drawing/2014/main" id="{AFE706C3-F654-470C-AC27-526DFAC324EA}"/>
              </a:ext>
            </a:extLst>
          </p:cNvPr>
          <p:cNvSpPr txBox="1"/>
          <p:nvPr/>
        </p:nvSpPr>
        <p:spPr>
          <a:xfrm>
            <a:off x="9637059" y="1157748"/>
            <a:ext cx="1479176" cy="400110"/>
          </a:xfrm>
          <a:prstGeom prst="rect">
            <a:avLst/>
          </a:prstGeom>
          <a:noFill/>
        </p:spPr>
        <p:txBody>
          <a:bodyPr wrap="square" rtlCol="0">
            <a:spAutoFit/>
          </a:bodyPr>
          <a:lstStyle/>
          <a:p>
            <a:r>
              <a:rPr lang="es-ES" sz="2000" b="1" dirty="0">
                <a:latin typeface="Arial" panose="020B0604020202020204" pitchFamily="34" charset="0"/>
                <a:cs typeface="Arial" panose="020B0604020202020204" pitchFamily="34" charset="0"/>
              </a:rPr>
              <a:t>LISTA</a:t>
            </a:r>
            <a:endParaRPr lang="es-MX"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8695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9975C1-C311-42E1-B9D3-C3D9AA9BCAAD}"/>
              </a:ext>
            </a:extLst>
          </p:cNvPr>
          <p:cNvSpPr>
            <a:spLocks noGrp="1"/>
          </p:cNvSpPr>
          <p:nvPr>
            <p:ph type="title"/>
          </p:nvPr>
        </p:nvSpPr>
        <p:spPr/>
        <p:txBody>
          <a:bodyPr/>
          <a:lstStyle/>
          <a:p>
            <a:pPr algn="ctr"/>
            <a:r>
              <a:rPr lang="es-ES" dirty="0"/>
              <a:t>Conclusión</a:t>
            </a:r>
            <a:endParaRPr lang="es-MX" dirty="0"/>
          </a:p>
        </p:txBody>
      </p:sp>
      <p:sp>
        <p:nvSpPr>
          <p:cNvPr id="3" name="Marcador de contenido 2">
            <a:extLst>
              <a:ext uri="{FF2B5EF4-FFF2-40B4-BE49-F238E27FC236}">
                <a16:creationId xmlns:a16="http://schemas.microsoft.com/office/drawing/2014/main" id="{7F894BB7-BDD3-4711-A87B-301E75D69AFC}"/>
              </a:ext>
            </a:extLst>
          </p:cNvPr>
          <p:cNvSpPr>
            <a:spLocks noGrp="1"/>
          </p:cNvSpPr>
          <p:nvPr>
            <p:ph idx="1"/>
          </p:nvPr>
        </p:nvSpPr>
        <p:spPr/>
        <p:txBody>
          <a:bodyPr>
            <a:normAutofit/>
          </a:bodyPr>
          <a:lstStyle/>
          <a:p>
            <a:pPr marL="0" indent="0" algn="just">
              <a:buNone/>
            </a:pPr>
            <a:r>
              <a:rPr lang="es-ES" sz="2000" dirty="0">
                <a:latin typeface="Arial" panose="020B0604020202020204" pitchFamily="34" charset="0"/>
                <a:cs typeface="Arial" panose="020B0604020202020204" pitchFamily="34" charset="0"/>
              </a:rPr>
              <a:t>La realización de esta práctica demostró de manera clara que una arquitectura de software bien organizada es fundamental para el éxito de cualquier proyecto. Al separar el programa de forma modular en carpetas de </a:t>
            </a:r>
            <a:r>
              <a:rPr lang="es-ES" sz="2000" u="none" strike="noStrike" dirty="0">
                <a:effectLst/>
                <a:latin typeface="Arial" panose="020B0604020202020204" pitchFamily="34" charset="0"/>
                <a:cs typeface="Arial" panose="020B0604020202020204" pitchFamily="34" charset="0"/>
              </a:rPr>
              <a:t>Clases</a:t>
            </a:r>
            <a:r>
              <a:rPr lang="es-ES" sz="2000" dirty="0">
                <a:latin typeface="Arial" panose="020B0604020202020204" pitchFamily="34" charset="0"/>
                <a:cs typeface="Arial" panose="020B0604020202020204" pitchFamily="34" charset="0"/>
              </a:rPr>
              <a:t>, </a:t>
            </a:r>
            <a:r>
              <a:rPr lang="es-ES" sz="2000" u="none" strike="noStrike" dirty="0" err="1">
                <a:effectLst/>
                <a:latin typeface="Arial" panose="020B0604020202020204" pitchFamily="34" charset="0"/>
                <a:cs typeface="Arial" panose="020B0604020202020204" pitchFamily="34" charset="0"/>
              </a:rPr>
              <a:t>Controllers</a:t>
            </a:r>
            <a:r>
              <a:rPr lang="es-ES" sz="2000" dirty="0">
                <a:latin typeface="Arial" panose="020B0604020202020204" pitchFamily="34" charset="0"/>
                <a:cs typeface="Arial" panose="020B0604020202020204" pitchFamily="34" charset="0"/>
              </a:rPr>
              <a:t> y </a:t>
            </a:r>
            <a:r>
              <a:rPr lang="es-ES" sz="2000" u="none" strike="noStrike" dirty="0" err="1">
                <a:effectLst/>
                <a:latin typeface="Arial" panose="020B0604020202020204" pitchFamily="34" charset="0"/>
                <a:cs typeface="Arial" panose="020B0604020202020204" pitchFamily="34" charset="0"/>
              </a:rPr>
              <a:t>Views</a:t>
            </a:r>
            <a:r>
              <a:rPr lang="es-ES" sz="2000" dirty="0">
                <a:latin typeface="Arial" panose="020B0604020202020204" pitchFamily="34" charset="0"/>
                <a:cs typeface="Arial" panose="020B0604020202020204" pitchFamily="34" charset="0"/>
              </a:rPr>
              <a:t>, se logró un código limpio, legible y escalable, facilitando la conexión de la lógica de las </a:t>
            </a:r>
            <a:r>
              <a:rPr lang="es-ES" sz="2000" u="none" strike="noStrike" dirty="0">
                <a:effectLst/>
                <a:latin typeface="Arial" panose="020B0604020202020204" pitchFamily="34" charset="0"/>
                <a:cs typeface="Arial" panose="020B0604020202020204" pitchFamily="34" charset="0"/>
              </a:rPr>
              <a:t>pilas, colas y listas</a:t>
            </a:r>
            <a:r>
              <a:rPr lang="es-ES" sz="2000" dirty="0">
                <a:latin typeface="Arial" panose="020B0604020202020204" pitchFamily="34" charset="0"/>
                <a:cs typeface="Arial" panose="020B0604020202020204" pitchFamily="34" charset="0"/>
              </a:rPr>
              <a:t> con la interfaz visual creada en </a:t>
            </a:r>
            <a:r>
              <a:rPr lang="es-ES" sz="2000" u="none" strike="noStrike" dirty="0" err="1">
                <a:effectLst/>
                <a:latin typeface="Arial" panose="020B0604020202020204" pitchFamily="34" charset="0"/>
                <a:cs typeface="Arial" panose="020B0604020202020204" pitchFamily="34" charset="0"/>
              </a:rPr>
              <a:t>JavaFX</a:t>
            </a:r>
            <a:r>
              <a:rPr lang="es-ES" sz="2000" dirty="0">
                <a:latin typeface="Arial" panose="020B0604020202020204" pitchFamily="34" charset="0"/>
                <a:cs typeface="Arial" panose="020B0604020202020204" pitchFamily="34" charset="0"/>
              </a:rPr>
              <a:t> y </a:t>
            </a:r>
            <a:r>
              <a:rPr lang="es-ES" sz="2000" u="none" strike="noStrike" dirty="0" err="1">
                <a:effectLst/>
                <a:latin typeface="Arial" panose="020B0604020202020204" pitchFamily="34" charset="0"/>
                <a:cs typeface="Arial" panose="020B0604020202020204" pitchFamily="34" charset="0"/>
              </a:rPr>
              <a:t>Scene</a:t>
            </a:r>
            <a:r>
              <a:rPr lang="es-ES" sz="2000" u="none" strike="noStrike" dirty="0">
                <a:effectLst/>
                <a:latin typeface="Arial" panose="020B0604020202020204" pitchFamily="34" charset="0"/>
                <a:cs typeface="Arial" panose="020B0604020202020204" pitchFamily="34" charset="0"/>
              </a:rPr>
              <a:t> </a:t>
            </a:r>
            <a:r>
              <a:rPr lang="es-ES" sz="2000" u="none" strike="noStrike" dirty="0" err="1">
                <a:effectLst/>
                <a:latin typeface="Arial" panose="020B0604020202020204" pitchFamily="34" charset="0"/>
                <a:cs typeface="Arial" panose="020B0604020202020204" pitchFamily="34" charset="0"/>
              </a:rPr>
              <a:t>Builder</a:t>
            </a:r>
            <a:r>
              <a:rPr lang="es-ES" sz="2000" dirty="0">
                <a:latin typeface="Arial" panose="020B0604020202020204" pitchFamily="34" charset="0"/>
                <a:cs typeface="Arial" panose="020B0604020202020204" pitchFamily="34" charset="0"/>
              </a:rPr>
              <a:t>. la ejecución confirmaron que cada botón del menú principal responde de forma correcta y eficiente a los eventos programados.</a:t>
            </a: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4063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8916FF-8CE0-4DA1-9393-1855F61C8537}"/>
              </a:ext>
            </a:extLst>
          </p:cNvPr>
          <p:cNvSpPr>
            <a:spLocks noGrp="1"/>
          </p:cNvSpPr>
          <p:nvPr>
            <p:ph type="title"/>
          </p:nvPr>
        </p:nvSpPr>
        <p:spPr/>
        <p:txBody>
          <a:bodyPr/>
          <a:lstStyle/>
          <a:p>
            <a:r>
              <a:rPr lang="es-ES" dirty="0"/>
              <a:t>Anexo</a:t>
            </a:r>
            <a:endParaRPr lang="es-MX" dirty="0"/>
          </a:p>
        </p:txBody>
      </p:sp>
      <p:sp>
        <p:nvSpPr>
          <p:cNvPr id="3" name="Marcador de contenido 2">
            <a:extLst>
              <a:ext uri="{FF2B5EF4-FFF2-40B4-BE49-F238E27FC236}">
                <a16:creationId xmlns:a16="http://schemas.microsoft.com/office/drawing/2014/main" id="{C11B2C70-2AF3-4691-953F-7C7C4E9B0EAD}"/>
              </a:ext>
            </a:extLst>
          </p:cNvPr>
          <p:cNvSpPr>
            <a:spLocks noGrp="1"/>
          </p:cNvSpPr>
          <p:nvPr>
            <p:ph idx="1"/>
          </p:nvPr>
        </p:nvSpPr>
        <p:spPr/>
        <p:txBody>
          <a:bodyPr/>
          <a:lstStyle/>
          <a:p>
            <a:pPr marL="0" indent="0">
              <a:buNone/>
            </a:pPr>
            <a:r>
              <a:rPr lang="es-MX" sz="1800" kern="100" dirty="0">
                <a:effectLst/>
                <a:latin typeface="Arial" panose="020B0604020202020204" pitchFamily="34" charset="0"/>
                <a:ea typeface="Calibri" panose="020F0502020204030204" pitchFamily="34" charset="0"/>
                <a:cs typeface="Times New Roman" panose="02020603050405020304" pitchFamily="18" charset="0"/>
              </a:rPr>
              <a:t>Proporciono el link de mi repositorio de Git Hub donde se encuentran todas mis actividades, en donde el ingeniero Mingo nos enseñó ciertos temas en la materia de </a:t>
            </a:r>
            <a:r>
              <a:rPr lang="es-MX" sz="1800" kern="100" dirty="0" err="1">
                <a:effectLst/>
                <a:latin typeface="Arial" panose="020B0604020202020204" pitchFamily="34" charset="0"/>
                <a:ea typeface="Calibri" panose="020F0502020204030204" pitchFamily="34" charset="0"/>
                <a:cs typeface="Times New Roman" panose="02020603050405020304" pitchFamily="18" charset="0"/>
              </a:rPr>
              <a:t>est</a:t>
            </a:r>
            <a:r>
              <a:rPr lang="es-MX" sz="1800" kern="100" dirty="0">
                <a:effectLst/>
                <a:latin typeface="Arial" panose="020B0604020202020204" pitchFamily="34" charset="0"/>
                <a:ea typeface="Calibri" panose="020F0502020204030204" pitchFamily="34" charset="0"/>
                <a:cs typeface="Times New Roman" panose="02020603050405020304" pitchFamily="18" charset="0"/>
              </a:rPr>
              <a:t>. </a:t>
            </a:r>
            <a:r>
              <a:rPr lang="es-MX" sz="1800" kern="100">
                <a:effectLst/>
                <a:latin typeface="Arial" panose="020B0604020202020204" pitchFamily="34" charset="0"/>
                <a:ea typeface="Calibri" panose="020F0502020204030204" pitchFamily="34" charset="0"/>
                <a:cs typeface="Times New Roman" panose="02020603050405020304" pitchFamily="18" charset="0"/>
              </a:rPr>
              <a:t>De Datos:</a:t>
            </a:r>
          </a:p>
          <a:p>
            <a:pPr marL="0" indent="0">
              <a:buNone/>
            </a:pPr>
            <a:endParaRPr lang="es-MX" sz="1800" kern="10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s-MX" dirty="0"/>
          </a:p>
        </p:txBody>
      </p:sp>
    </p:spTree>
    <p:extLst>
      <p:ext uri="{BB962C8B-B14F-4D97-AF65-F5344CB8AC3E}">
        <p14:creationId xmlns:p14="http://schemas.microsoft.com/office/powerpoint/2010/main" val="18396278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Circuito</Template>
  <TotalTime>145</TotalTime>
  <Words>1031</Words>
  <Application>Microsoft Office PowerPoint</Application>
  <PresentationFormat>Panorámica</PresentationFormat>
  <Paragraphs>94</Paragraphs>
  <Slides>17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Calibri</vt:lpstr>
      <vt:lpstr>Google Sans</vt:lpstr>
      <vt:lpstr>Tw Cen MT</vt:lpstr>
      <vt:lpstr>Circuito</vt:lpstr>
      <vt:lpstr>Presentación de PowerPoint</vt:lpstr>
      <vt:lpstr>introducción</vt:lpstr>
      <vt:lpstr>Justificación </vt:lpstr>
      <vt:lpstr>Presentación de PowerPoint</vt:lpstr>
      <vt:lpstr>Clase de Cola</vt:lpstr>
      <vt:lpstr>Clase de lista </vt:lpstr>
      <vt:lpstr> Clase de Pila</vt:lpstr>
      <vt:lpstr>Cola Controller</vt:lpstr>
      <vt:lpstr>Presentación de PowerPoint</vt:lpstr>
      <vt:lpstr>Lista controller</vt:lpstr>
      <vt:lpstr>PILa controller </vt:lpstr>
      <vt:lpstr>Menú controller</vt:lpstr>
      <vt:lpstr>Cola-view.fxml</vt:lpstr>
      <vt:lpstr>Ejecución</vt:lpstr>
      <vt:lpstr>Pila</vt:lpstr>
      <vt:lpstr>Conclusión</vt:lpstr>
      <vt:lpstr>Anexo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ej3979412@gmail.com</dc:creator>
  <cp:lastModifiedBy>ej3979412@gmail.com</cp:lastModifiedBy>
  <cp:revision>16</cp:revision>
  <dcterms:created xsi:type="dcterms:W3CDTF">2026-10-08T22:59:12Z</dcterms:created>
  <dcterms:modified xsi:type="dcterms:W3CDTF">2026-10-09T03:16:27Z</dcterms:modified>
</cp:coreProperties>
</file>